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0" name="Shape 170"/>
          <p:cNvSpPr/>
          <p:nvPr>
            <p:ph type="sldImg"/>
          </p:nvPr>
        </p:nvSpPr>
        <p:spPr>
          <a:xfrm>
            <a:off x="1143000" y="685800"/>
            <a:ext cx="4572000" cy="3429000"/>
          </a:xfrm>
          <a:prstGeom prst="rect">
            <a:avLst/>
          </a:prstGeom>
        </p:spPr>
        <p:txBody>
          <a:bodyPr/>
          <a:lstStyle/>
          <a:p>
            <a:pPr/>
          </a:p>
        </p:txBody>
      </p:sp>
      <p:sp>
        <p:nvSpPr>
          <p:cNvPr id="171" name="Shape 17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09"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2 master">
    <p:bg>
      <p:bgPr>
        <a:solidFill>
          <a:srgbClr val="000000"/>
        </a:solidFill>
      </p:bgPr>
    </p:bg>
    <p:spTree>
      <p:nvGrpSpPr>
        <p:cNvPr id="1" name=""/>
        <p:cNvGrpSpPr/>
        <p:nvPr/>
      </p:nvGrpSpPr>
      <p:grpSpPr>
        <a:xfrm>
          <a:off x="0" y="0"/>
          <a:ext cx="0" cy="0"/>
          <a:chOff x="0" y="0"/>
          <a:chExt cx="0" cy="0"/>
        </a:xfrm>
      </p:grpSpPr>
      <p:sp>
        <p:nvSpPr>
          <p:cNvPr id="117"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18"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3 master">
    <p:bg>
      <p:bgPr>
        <a:solidFill>
          <a:srgbClr val="000000"/>
        </a:solidFill>
      </p:bgPr>
    </p:bg>
    <p:spTree>
      <p:nvGrpSpPr>
        <p:cNvPr id="1" name=""/>
        <p:cNvGrpSpPr/>
        <p:nvPr/>
      </p:nvGrpSpPr>
      <p:grpSpPr>
        <a:xfrm>
          <a:off x="0" y="0"/>
          <a:ext cx="0" cy="0"/>
          <a:chOff x="0" y="0"/>
          <a:chExt cx="0" cy="0"/>
        </a:xfrm>
      </p:grpSpPr>
      <p:sp>
        <p:nvSpPr>
          <p:cNvPr id="126"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27"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4 master">
    <p:bg>
      <p:bgPr>
        <a:solidFill>
          <a:srgbClr val="000000"/>
        </a:solidFill>
      </p:bgPr>
    </p:bg>
    <p:spTree>
      <p:nvGrpSpPr>
        <p:cNvPr id="1" name=""/>
        <p:cNvGrpSpPr/>
        <p:nvPr/>
      </p:nvGrpSpPr>
      <p:grpSpPr>
        <a:xfrm>
          <a:off x="0" y="0"/>
          <a:ext cx="0" cy="0"/>
          <a:chOff x="0" y="0"/>
          <a:chExt cx="0" cy="0"/>
        </a:xfrm>
      </p:grpSpPr>
      <p:sp>
        <p:nvSpPr>
          <p:cNvPr id="135"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36"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5 master">
    <p:bg>
      <p:bgPr>
        <a:solidFill>
          <a:srgbClr val="000000"/>
        </a:solidFill>
      </p:bgPr>
    </p:bg>
    <p:spTree>
      <p:nvGrpSpPr>
        <p:cNvPr id="1" name=""/>
        <p:cNvGrpSpPr/>
        <p:nvPr/>
      </p:nvGrpSpPr>
      <p:grpSpPr>
        <a:xfrm>
          <a:off x="0" y="0"/>
          <a:ext cx="0" cy="0"/>
          <a:chOff x="0" y="0"/>
          <a:chExt cx="0" cy="0"/>
        </a:xfrm>
      </p:grpSpPr>
      <p:sp>
        <p:nvSpPr>
          <p:cNvPr id="144"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45"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6 master">
    <p:bg>
      <p:bgPr>
        <a:solidFill>
          <a:srgbClr val="000000"/>
        </a:solidFill>
      </p:bgPr>
    </p:bg>
    <p:spTree>
      <p:nvGrpSpPr>
        <p:cNvPr id="1" name=""/>
        <p:cNvGrpSpPr/>
        <p:nvPr/>
      </p:nvGrpSpPr>
      <p:grpSpPr>
        <a:xfrm>
          <a:off x="0" y="0"/>
          <a:ext cx="0" cy="0"/>
          <a:chOff x="0" y="0"/>
          <a:chExt cx="0" cy="0"/>
        </a:xfrm>
      </p:grpSpPr>
      <p:sp>
        <p:nvSpPr>
          <p:cNvPr id="153"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54"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7 master">
    <p:bg>
      <p:bgPr>
        <a:solidFill>
          <a:srgbClr val="000000"/>
        </a:solidFill>
      </p:bgPr>
    </p:bg>
    <p:spTree>
      <p:nvGrpSpPr>
        <p:cNvPr id="1" name=""/>
        <p:cNvGrpSpPr/>
        <p:nvPr/>
      </p:nvGrpSpPr>
      <p:grpSpPr>
        <a:xfrm>
          <a:off x="0" y="0"/>
          <a:ext cx="0" cy="0"/>
          <a:chOff x="0" y="0"/>
          <a:chExt cx="0" cy="0"/>
        </a:xfrm>
      </p:grpSpPr>
      <p:sp>
        <p:nvSpPr>
          <p:cNvPr id="162"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63"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19" y="110489"/>
            <a:ext cx="13167362"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19" y="1920239"/>
            <a:ext cx="13167362"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4"/>
            <a:ext cx="3413761" cy="43815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voyage-analyticsappuction-mlops-travel-platform.streamlit.app/" TargetMode="External"/><Relationship Id="rId3" Type="http://schemas.openxmlformats.org/officeDocument/2006/relationships/hyperlink" Target="https://github.com/Alvira-Parveen/Voyage-Analytics_Production-MLOps-Travel-Platfor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pic>
        <p:nvPicPr>
          <p:cNvPr id="174" name="ChatGPT Image Aug 12, 2026, 10_14_45 PM.png" descr="ChatGPT Image Aug 12, 2026, 10_14_45 PM.png"/>
          <p:cNvPicPr>
            <a:picLocks noChangeAspect="1"/>
          </p:cNvPicPr>
          <p:nvPr/>
        </p:nvPicPr>
        <p:blipFill>
          <a:blip r:embed="rId3">
            <a:extLst/>
          </a:blip>
          <a:srcRect l="30058" t="0" r="3274" b="0"/>
          <a:stretch>
            <a:fillRect/>
          </a:stretch>
        </p:blipFill>
        <p:spPr>
          <a:xfrm>
            <a:off x="474133" y="1710158"/>
            <a:ext cx="4809285" cy="4809284"/>
          </a:xfrm>
          <a:prstGeom prst="rect">
            <a:avLst/>
          </a:prstGeom>
          <a:ln w="12700">
            <a:miter lim="400000"/>
          </a:ln>
        </p:spPr>
      </p:pic>
      <p:sp>
        <p:nvSpPr>
          <p:cNvPr id="175" name="Text 0"/>
          <p:cNvSpPr txBox="1"/>
          <p:nvPr/>
        </p:nvSpPr>
        <p:spPr>
          <a:xfrm>
            <a:off x="6249280" y="1777602"/>
            <a:ext cx="7823650" cy="12099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800"/>
              </a:lnSpc>
              <a:defRPr b="1" sz="4100">
                <a:latin typeface="Times New Roman"/>
                <a:ea typeface="Times New Roman"/>
                <a:cs typeface="Times New Roman"/>
                <a:sym typeface="Times New Roman"/>
              </a:defRPr>
            </a:lvl1pPr>
          </a:lstStyle>
          <a:p>
            <a:pPr/>
            <a:r>
              <a:t>Voyage Analytics : Production-Grade MLOps Travel Platform</a:t>
            </a:r>
          </a:p>
        </p:txBody>
      </p:sp>
      <p:sp>
        <p:nvSpPr>
          <p:cNvPr id="176" name="Text 1"/>
          <p:cNvSpPr txBox="1"/>
          <p:nvPr/>
        </p:nvSpPr>
        <p:spPr>
          <a:xfrm>
            <a:off x="5896908" y="6349949"/>
            <a:ext cx="7712894" cy="3753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b="1" sz="2200">
                <a:latin typeface="Times New Roman"/>
                <a:ea typeface="Times New Roman"/>
                <a:cs typeface="Times New Roman"/>
                <a:sym typeface="Times New Roman"/>
              </a:defRPr>
            </a:pPr>
            <a:r>
              <a:t>Team Members :</a:t>
            </a:r>
            <a:r>
              <a:rPr b="0">
                <a:solidFill>
                  <a:srgbClr val="3D3838"/>
                </a:solidFill>
              </a:rPr>
              <a:t> Alvira Parveen , Supriya Sharma &amp; Arnab Ghosh</a:t>
            </a:r>
          </a:p>
        </p:txBody>
      </p:sp>
      <p:sp>
        <p:nvSpPr>
          <p:cNvPr id="177" name="Text 2"/>
          <p:cNvSpPr txBox="1"/>
          <p:nvPr/>
        </p:nvSpPr>
        <p:spPr>
          <a:xfrm>
            <a:off x="5939561" y="7041885"/>
            <a:ext cx="7416404" cy="3753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b="1" sz="2200">
                <a:latin typeface="Times New Roman"/>
                <a:ea typeface="Times New Roman"/>
                <a:cs typeface="Times New Roman"/>
                <a:sym typeface="Times New Roman"/>
              </a:defRPr>
            </a:pPr>
            <a:r>
              <a:t>Course :</a:t>
            </a:r>
            <a:r>
              <a:rPr b="0">
                <a:solidFill>
                  <a:srgbClr val="3D3838"/>
                </a:solidFill>
              </a:rPr>
              <a:t> Labmentix Major Project</a:t>
            </a:r>
          </a:p>
        </p:txBody>
      </p:sp>
      <p:sp>
        <p:nvSpPr>
          <p:cNvPr id="178" name="Text 1"/>
          <p:cNvSpPr txBox="1"/>
          <p:nvPr/>
        </p:nvSpPr>
        <p:spPr>
          <a:xfrm>
            <a:off x="5856573" y="3304054"/>
            <a:ext cx="8609063" cy="27293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100"/>
              </a:lnSpc>
              <a:defRPr sz="1900">
                <a:solidFill>
                  <a:srgbClr val="3D3838"/>
                </a:solidFill>
                <a:latin typeface="Times New Roman"/>
                <a:ea typeface="Times New Roman"/>
                <a:cs typeface="Times New Roman"/>
                <a:sym typeface="Times New Roman"/>
              </a:defRPr>
            </a:lvl1pPr>
          </a:lstStyle>
          <a:p>
            <a:pPr>
              <a:defRPr b="1">
                <a:solidFill>
                  <a:srgbClr val="000000"/>
                </a:solidFill>
              </a:defRPr>
            </a:pPr>
            <a:r>
              <a:rPr b="0">
                <a:solidFill>
                  <a:srgbClr val="3D3838"/>
                </a:solidFill>
              </a:rPr>
              <a:t>A production-grade, end-to-end Machine Learning Operations (MLOps) travel platform designed to demonstrate the complete lifecycle of predictive models in a live environment. It combines three different machine learning systems into one travel intelligence application : flight price prediction, traveler profiling, and hotel recommendation. Along with the models, we implemented data validation, feature engineering, experiment tracking, API serving, monitoring, testing, containerization and deployment.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 0"/>
          <p:cNvSpPr txBox="1"/>
          <p:nvPr/>
        </p:nvSpPr>
        <p:spPr>
          <a:xfrm>
            <a:off x="5134509" y="149402"/>
            <a:ext cx="5172299" cy="4684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800"/>
              </a:lnSpc>
              <a:defRPr b="1" sz="3000" u="sng">
                <a:latin typeface="Times New Roman"/>
                <a:ea typeface="Times New Roman"/>
                <a:cs typeface="Times New Roman"/>
                <a:sym typeface="Times New Roman"/>
              </a:defRPr>
            </a:lvl1pPr>
          </a:lstStyle>
          <a:p>
            <a:pPr/>
            <a:r>
              <a:t>PROBLEM STATEMENT</a:t>
            </a:r>
          </a:p>
        </p:txBody>
      </p:sp>
      <p:sp>
        <p:nvSpPr>
          <p:cNvPr id="181" name="Text 0"/>
          <p:cNvSpPr txBox="1"/>
          <p:nvPr/>
        </p:nvSpPr>
        <p:spPr>
          <a:xfrm>
            <a:off x="314013" y="710491"/>
            <a:ext cx="8675871" cy="4410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800"/>
              </a:lnSpc>
              <a:defRPr b="1" sz="2000" u="sng">
                <a:latin typeface="Times New Roman"/>
                <a:ea typeface="Times New Roman"/>
                <a:cs typeface="Times New Roman"/>
                <a:sym typeface="Times New Roman"/>
              </a:defRPr>
            </a:lvl1pPr>
          </a:lstStyle>
          <a:p>
            <a:pPr/>
            <a:r>
              <a:t>The Core Challenges in Travel Tech &amp; MLOps :</a:t>
            </a:r>
          </a:p>
        </p:txBody>
      </p:sp>
      <p:sp>
        <p:nvSpPr>
          <p:cNvPr id="182" name="Text 0"/>
          <p:cNvSpPr txBox="1"/>
          <p:nvPr/>
        </p:nvSpPr>
        <p:spPr>
          <a:xfrm>
            <a:off x="209918" y="1244109"/>
            <a:ext cx="14210564" cy="574138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0473" indent="-180473">
              <a:lnSpc>
                <a:spcPts val="3800"/>
              </a:lnSpc>
              <a:buSzPct val="100000"/>
              <a:buChar char="•"/>
              <a:defRPr sz="1700">
                <a:latin typeface="Times New Roman"/>
                <a:ea typeface="Times New Roman"/>
                <a:cs typeface="Times New Roman"/>
                <a:sym typeface="Times New Roman"/>
              </a:defRPr>
            </a:pPr>
            <a:r>
              <a:t>Modern travel platforms generate large amounts of data from </a:t>
            </a:r>
            <a:r>
              <a:rPr b="1"/>
              <a:t>flights, hotels, bookings and traveler behavior</a:t>
            </a:r>
            <a:r>
              <a:t>, but these data sources are often disconnected.</a:t>
            </a:r>
          </a:p>
          <a:p>
            <a:pPr marL="180473" indent="-180473">
              <a:lnSpc>
                <a:spcPts val="3800"/>
              </a:lnSpc>
              <a:buSzPct val="100000"/>
              <a:buChar char="•"/>
              <a:defRPr sz="1700">
                <a:latin typeface="Times New Roman"/>
                <a:ea typeface="Times New Roman"/>
                <a:cs typeface="Times New Roman"/>
                <a:sym typeface="Times New Roman"/>
              </a:defRPr>
            </a:pPr>
            <a:r>
              <a:rPr b="1"/>
              <a:t>Isolated Travel Data :-</a:t>
            </a:r>
            <a:r>
              <a:t> Flight information, hotel bookings and traveler profiles exist in separate datasets.This makes it difficult to create a unified view of a traveler's journey.Traditional systems often treat these datasets independently instead of combining them for personalization.</a:t>
            </a:r>
          </a:p>
          <a:p>
            <a:pPr marL="180473" indent="-180473">
              <a:lnSpc>
                <a:spcPts val="3800"/>
              </a:lnSpc>
              <a:buSzPct val="100000"/>
              <a:buChar char="•"/>
              <a:defRPr sz="1700">
                <a:latin typeface="Times New Roman"/>
                <a:ea typeface="Times New Roman"/>
                <a:cs typeface="Times New Roman"/>
                <a:sym typeface="Times New Roman"/>
              </a:defRPr>
            </a:pPr>
            <a:r>
              <a:rPr b="1"/>
              <a:t>Flight Price Uncertainty :- </a:t>
            </a:r>
            <a:r>
              <a:t>vary according to Route, Travel class, Airline/agency, Travel duration, Season/month, Day of the week &amp; Holidays. Travelers therefore have difficulty estimating whether a current ticket price is reasonable.</a:t>
            </a:r>
          </a:p>
          <a:p>
            <a:pPr marL="180473" indent="-180473">
              <a:lnSpc>
                <a:spcPts val="3800"/>
              </a:lnSpc>
              <a:buSzPct val="100000"/>
              <a:buChar char="•"/>
              <a:defRPr sz="1700">
                <a:latin typeface="Times New Roman"/>
                <a:ea typeface="Times New Roman"/>
                <a:cs typeface="Times New Roman"/>
                <a:sym typeface="Times New Roman"/>
              </a:defRPr>
            </a:pPr>
            <a:r>
              <a:rPr b="1"/>
              <a:t>Limited Traveler Understanding :- </a:t>
            </a:r>
            <a:r>
              <a:t>Demographic information may be incomplete or noisy. Behavioral travel information can contain useful signals about a traveler. A machine learning model can use behavioral features to infer traveler characteristics and create meaningful traveler personas.</a:t>
            </a:r>
          </a:p>
          <a:p>
            <a:pPr marL="180473" indent="-180473">
              <a:lnSpc>
                <a:spcPts val="3800"/>
              </a:lnSpc>
              <a:buSzPct val="100000"/>
              <a:buChar char="•"/>
              <a:defRPr sz="1700">
                <a:latin typeface="Times New Roman"/>
                <a:ea typeface="Times New Roman"/>
                <a:cs typeface="Times New Roman"/>
                <a:sym typeface="Times New Roman"/>
              </a:defRPr>
            </a:pPr>
            <a:r>
              <a:rPr b="1"/>
              <a:t>Hotel Recommendation &amp; Cold Start :-</a:t>
            </a:r>
            <a:r>
              <a:t> Generic hotel recommendations do not consider individual traveler preferences. Collaborative filtering works well when historical user-rating information exists. </a:t>
            </a:r>
            <a:r>
              <a:t>However, a </a:t>
            </a:r>
            <a:r>
              <a:t>new user has no previous ratings</a:t>
            </a:r>
            <a:r>
              <a:t>, creating the </a:t>
            </a:r>
            <a:r>
              <a:t>cold-start problem</a:t>
            </a:r>
            <a:r>
              <a:t>.</a:t>
            </a:r>
          </a:p>
          <a:p>
            <a:pPr marL="180473" indent="-180473">
              <a:lnSpc>
                <a:spcPts val="3800"/>
              </a:lnSpc>
              <a:buSzPct val="100000"/>
              <a:buChar char="•"/>
              <a:defRPr sz="1700">
                <a:latin typeface="Times New Roman"/>
                <a:ea typeface="Times New Roman"/>
                <a:cs typeface="Times New Roman"/>
                <a:sym typeface="Times New Roman"/>
              </a:defRPr>
            </a:pPr>
            <a:r>
              <a:rPr b="1"/>
              <a:t>ML Models Alone Are Not Enough :-</a:t>
            </a:r>
            <a:r>
              <a:t> A production system needs Data validation, Reproducible preprocessing, Feature engineering, Experiment tracking, Model management, API serving, Automated testing, Deployment, Monitoring &amp; Drift detection. The project addresses these problems through a unified </a:t>
            </a:r>
            <a:r>
              <a:rPr b="1"/>
              <a:t>MLOps architecture</a:t>
            </a:r>
            <a:r>
              <a:t>.</a:t>
            </a:r>
          </a:p>
        </p:txBody>
      </p:sp>
      <p:sp>
        <p:nvSpPr>
          <p:cNvPr id="183" name="Text 0"/>
          <p:cNvSpPr txBox="1"/>
          <p:nvPr/>
        </p:nvSpPr>
        <p:spPr>
          <a:xfrm>
            <a:off x="605268" y="7069844"/>
            <a:ext cx="13590542" cy="9181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800"/>
              </a:lnSpc>
              <a:defRPr i="1">
                <a:latin typeface="Times New Roman"/>
                <a:ea typeface="Times New Roman"/>
                <a:cs typeface="Times New Roman"/>
                <a:sym typeface="Times New Roman"/>
              </a:defRPr>
            </a:lvl1pPr>
          </a:lstStyle>
          <a:p>
            <a:pPr/>
            <a:r>
              <a:t>The main problem is not simply predicting something. The bigger problem is building a complete system where different travel intelligence tasks can work together reliably. We therefore designed the project as an MLOps platform rather than just a notebook-based machine learning project.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PROJECT OVERVIEW"/>
          <p:cNvSpPr txBox="1"/>
          <p:nvPr/>
        </p:nvSpPr>
        <p:spPr>
          <a:xfrm>
            <a:off x="5378384" y="145286"/>
            <a:ext cx="5067249" cy="561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spcBef>
                <a:spcPts val="1400"/>
              </a:spcBef>
              <a:defRPr b="1" sz="3000" u="sng">
                <a:latin typeface="Times Roman"/>
                <a:ea typeface="Times Roman"/>
                <a:cs typeface="Times Roman"/>
                <a:sym typeface="Times Roman"/>
              </a:defRPr>
            </a:lvl1pPr>
          </a:lstStyle>
          <a:p>
            <a:pPr/>
            <a:r>
              <a:t>PROJECT OVERVIEW</a:t>
            </a:r>
          </a:p>
        </p:txBody>
      </p:sp>
      <p:sp>
        <p:nvSpPr>
          <p:cNvPr id="186" name="Voyage Analytics 2.0 is an end-to-end production-oriented travel intelligence platform that combines three ML engines with a complete MLOps lifecycle."/>
          <p:cNvSpPr txBox="1"/>
          <p:nvPr/>
        </p:nvSpPr>
        <p:spPr>
          <a:xfrm>
            <a:off x="220449" y="786940"/>
            <a:ext cx="13837527"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Roman"/>
                <a:ea typeface="Times Roman"/>
                <a:cs typeface="Times Roman"/>
                <a:sym typeface="Times Roman"/>
              </a:defRPr>
            </a:pPr>
            <a:r>
              <a:t>Voyage Analytics 2.0 is an </a:t>
            </a:r>
            <a:r>
              <a:rPr b="1"/>
              <a:t>end-to-end production-oriented travel intelligence platform</a:t>
            </a:r>
            <a:r>
              <a:t> that combines three ML engines with a complete MLOps lifecycle.</a:t>
            </a:r>
          </a:p>
        </p:txBody>
      </p:sp>
      <p:sp>
        <p:nvSpPr>
          <p:cNvPr id="187" name="Three Core ML Engines :-…"/>
          <p:cNvSpPr txBox="1"/>
          <p:nvPr/>
        </p:nvSpPr>
        <p:spPr>
          <a:xfrm>
            <a:off x="333957" y="1212693"/>
            <a:ext cx="13962486" cy="69495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0447" indent="-170447" defTabSz="457200">
              <a:spcBef>
                <a:spcPts val="1200"/>
              </a:spcBef>
              <a:buSzPct val="100000"/>
              <a:buChar char="•"/>
              <a:defRPr b="1" sz="1700" u="sng">
                <a:latin typeface="Times Roman"/>
                <a:ea typeface="Times Roman"/>
                <a:cs typeface="Times Roman"/>
                <a:sym typeface="Times Roman"/>
              </a:defRPr>
            </a:pPr>
            <a:r>
              <a:t>Three Core ML Engines :- </a:t>
            </a:r>
          </a:p>
          <a:p>
            <a:pPr defTabSz="457200">
              <a:spcBef>
                <a:spcPts val="1500"/>
              </a:spcBef>
              <a:defRPr b="1" sz="1700">
                <a:latin typeface="Times Roman"/>
                <a:ea typeface="Times Roman"/>
                <a:cs typeface="Times Roman"/>
                <a:sym typeface="Times Roman"/>
              </a:defRPr>
            </a:pPr>
            <a:r>
              <a:t>1. Flight Price Prediction : </a:t>
            </a:r>
            <a:r>
              <a:rPr b="0"/>
              <a:t>Predicts the expected price of a flight based on travel and route-related features.</a:t>
            </a:r>
            <a:endParaRPr b="0"/>
          </a:p>
          <a:p>
            <a:pPr defTabSz="457200">
              <a:spcBef>
                <a:spcPts val="1200"/>
              </a:spcBef>
              <a:defRPr b="1" sz="1700">
                <a:latin typeface="Times Roman"/>
                <a:ea typeface="Times Roman"/>
                <a:cs typeface="Times Roman"/>
                <a:sym typeface="Times Roman"/>
              </a:defRPr>
            </a:pPr>
            <a:r>
              <a:rPr b="0"/>
              <a:t>Output : Predicted ticket price , 95% prediction interval , Feature contribution/explanation using SHAP</a:t>
            </a:r>
            <a:endParaRPr b="0"/>
          </a:p>
          <a:p>
            <a:pPr defTabSz="457200">
              <a:spcBef>
                <a:spcPts val="1500"/>
              </a:spcBef>
              <a:defRPr b="1" sz="1700">
                <a:latin typeface="Times Roman"/>
                <a:ea typeface="Times Roman"/>
                <a:cs typeface="Times Roman"/>
                <a:sym typeface="Times Roman"/>
              </a:defRPr>
            </a:pPr>
            <a:r>
              <a:t>2. Traveler Profiling :</a:t>
            </a:r>
            <a:r>
              <a:rPr b="0"/>
              <a:t> Uses behavioral and transactional travel information to classify traveler demographic information and generate traveler persona insights.</a:t>
            </a:r>
            <a:endParaRPr b="0"/>
          </a:p>
          <a:p>
            <a:pPr defTabSz="457200">
              <a:spcBef>
                <a:spcPts val="1200"/>
              </a:spcBef>
              <a:defRPr sz="1700">
                <a:latin typeface="Times Roman"/>
                <a:ea typeface="Times Roman"/>
                <a:cs typeface="Times Roman"/>
                <a:sym typeface="Times Roman"/>
              </a:defRPr>
            </a:pPr>
            <a:r>
              <a:t>Example Personas : Premium Corporate Traveler and Occasional Leisure Traveler</a:t>
            </a:r>
          </a:p>
          <a:p>
            <a:pPr defTabSz="457200">
              <a:spcBef>
                <a:spcPts val="1500"/>
              </a:spcBef>
              <a:defRPr b="1" sz="1700">
                <a:latin typeface="Times Roman"/>
                <a:ea typeface="Times Roman"/>
                <a:cs typeface="Times Roman"/>
                <a:sym typeface="Times Roman"/>
              </a:defRPr>
            </a:pPr>
            <a:r>
              <a:t>3. Hotel Recommendation : </a:t>
            </a:r>
            <a:r>
              <a:rPr b="0"/>
              <a:t>Provides personalized hotel recommendations using Collaborative filtering , SVD matrix factorization and Content-based similarity. The content-based approach provides a fallback for new users.</a:t>
            </a:r>
            <a:endParaRPr b="0"/>
          </a:p>
          <a:p>
            <a:pPr marL="170447" indent="-170447" defTabSz="457200">
              <a:spcBef>
                <a:spcPts val="1500"/>
              </a:spcBef>
              <a:buSzPct val="100000"/>
              <a:buChar char="•"/>
              <a:defRPr b="1" sz="1700" u="sng">
                <a:latin typeface="Times Roman"/>
                <a:ea typeface="Times Roman"/>
                <a:cs typeface="Times Roman"/>
                <a:sym typeface="Times Roman"/>
              </a:defRPr>
            </a:pPr>
            <a:r>
              <a:t>End-to-End Objective :- </a:t>
            </a:r>
          </a:p>
          <a:p>
            <a:pPr defTabSz="457200">
              <a:spcBef>
                <a:spcPts val="1200"/>
              </a:spcBef>
              <a:defRPr sz="1700">
                <a:latin typeface="Times Roman"/>
                <a:ea typeface="Times Roman"/>
                <a:cs typeface="Times Roman"/>
                <a:sym typeface="Times Roman"/>
              </a:defRPr>
            </a:pPr>
            <a:r>
              <a:t>The platform connects : Data → ML Models → API → Dashboard → Monitoring</a:t>
            </a:r>
          </a:p>
          <a:p>
            <a:pPr defTabSz="457200">
              <a:spcBef>
                <a:spcPts val="1200"/>
              </a:spcBef>
              <a:defRPr sz="1700">
                <a:latin typeface="Times Roman"/>
                <a:ea typeface="Times Roman"/>
                <a:cs typeface="Times Roman"/>
                <a:sym typeface="Times Roman"/>
              </a:defRPr>
            </a:pPr>
            <a:r>
              <a:t>Instead of having isolated ML notebooks, the system provides a complete lifecycle : Collect → Validate → Transform → Engineer Features → Train → Track → Register → Serve → Monitor</a:t>
            </a:r>
          </a:p>
          <a:p>
            <a:pPr marL="140368" indent="-140368" defTabSz="457200">
              <a:spcBef>
                <a:spcPts val="1400"/>
              </a:spcBef>
              <a:buSzPct val="100000"/>
              <a:buChar char="•"/>
              <a:defRPr b="1" sz="1700" u="sng">
                <a:latin typeface="Times Roman"/>
                <a:ea typeface="Times Roman"/>
                <a:cs typeface="Times Roman"/>
                <a:sym typeface="Times Roman"/>
              </a:defRPr>
            </a:pPr>
            <a:r>
              <a:t>Major Goals :-</a:t>
            </a:r>
          </a:p>
          <a:p>
            <a:pPr marL="457200" indent="-317500" defTabSz="457200">
              <a:buSzPct val="100000"/>
              <a:buFont typeface="Times Roman"/>
              <a:buChar char="•"/>
              <a:defRPr sz="1700">
                <a:latin typeface="Times Roman"/>
                <a:ea typeface="Times Roman"/>
                <a:cs typeface="Times Roman"/>
                <a:sym typeface="Times Roman"/>
              </a:defRPr>
            </a:pPr>
            <a:r>
              <a:t>Build reproducible ML workflows</a:t>
            </a:r>
          </a:p>
          <a:p>
            <a:pPr marL="457200" indent="-317500" defTabSz="457200">
              <a:buSzPct val="100000"/>
              <a:buFont typeface="Times Roman"/>
              <a:buChar char="•"/>
              <a:defRPr sz="1700">
                <a:latin typeface="Times Roman"/>
                <a:ea typeface="Times Roman"/>
                <a:cs typeface="Times Roman"/>
                <a:sym typeface="Times Roman"/>
              </a:defRPr>
            </a:pPr>
            <a:r>
              <a:t>Prevent data-quality problems</a:t>
            </a:r>
          </a:p>
          <a:p>
            <a:pPr marL="457200" indent="-317500" defTabSz="457200">
              <a:buSzPct val="100000"/>
              <a:buFont typeface="Times Roman"/>
              <a:buChar char="•"/>
              <a:defRPr sz="1700">
                <a:latin typeface="Times Roman"/>
                <a:ea typeface="Times Roman"/>
                <a:cs typeface="Times Roman"/>
                <a:sym typeface="Times Roman"/>
              </a:defRPr>
            </a:pPr>
            <a:r>
              <a:t>Compare multiple algorithms</a:t>
            </a:r>
          </a:p>
          <a:p>
            <a:pPr marL="457200" indent="-317500" defTabSz="457200">
              <a:buSzPct val="100000"/>
              <a:buFont typeface="Times Roman"/>
              <a:buChar char="•"/>
              <a:defRPr sz="1700">
                <a:latin typeface="Times Roman"/>
                <a:ea typeface="Times Roman"/>
                <a:cs typeface="Times Roman"/>
                <a:sym typeface="Times Roman"/>
              </a:defRPr>
            </a:pPr>
            <a:r>
              <a:t>Tune the best-performing models</a:t>
            </a:r>
          </a:p>
          <a:p>
            <a:pPr marL="457200" indent="-317500" defTabSz="457200">
              <a:buSzPct val="100000"/>
              <a:buFont typeface="Times Roman"/>
              <a:buChar char="•"/>
              <a:defRPr sz="1700">
                <a:latin typeface="Times Roman"/>
                <a:ea typeface="Times Roman"/>
                <a:cs typeface="Times Roman"/>
                <a:sym typeface="Times Roman"/>
              </a:defRPr>
            </a:pPr>
            <a:r>
              <a:t>Deploy models through APIs</a:t>
            </a:r>
          </a:p>
          <a:p>
            <a:pPr marL="457200" indent="-317500" defTabSz="457200">
              <a:buSzPct val="100000"/>
              <a:buFont typeface="Times Roman"/>
              <a:buChar char="•"/>
              <a:defRPr sz="1700">
                <a:latin typeface="Times Roman"/>
                <a:ea typeface="Times Roman"/>
                <a:cs typeface="Times Roman"/>
                <a:sym typeface="Times Roman"/>
              </a:defRPr>
            </a:pPr>
            <a:r>
              <a:t>Provide an interactive dashboard</a:t>
            </a:r>
          </a:p>
          <a:p>
            <a:pPr marL="457200" indent="-317500" defTabSz="457200">
              <a:buSzPct val="100000"/>
              <a:buFont typeface="Times Roman"/>
              <a:buChar char="•"/>
              <a:defRPr sz="1700">
                <a:latin typeface="Times Roman"/>
                <a:ea typeface="Times Roman"/>
                <a:cs typeface="Times Roman"/>
                <a:sym typeface="Times Roman"/>
              </a:defRPr>
            </a:pPr>
            <a:r>
              <a:t>Monitor production behavior</a:t>
            </a:r>
          </a:p>
          <a:p>
            <a:pPr marL="457200" indent="-317500" defTabSz="457200">
              <a:buSzPct val="100000"/>
              <a:buFont typeface="Times Roman"/>
              <a:buChar char="•"/>
              <a:defRPr sz="1700">
                <a:latin typeface="Times Roman"/>
                <a:ea typeface="Times Roman"/>
                <a:cs typeface="Times Roman"/>
                <a:sym typeface="Times Roman"/>
              </a:defRPr>
            </a:pPr>
            <a:r>
              <a:t>Detect model-input drift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Text 0"/>
          <p:cNvSpPr txBox="1"/>
          <p:nvPr/>
        </p:nvSpPr>
        <p:spPr>
          <a:xfrm>
            <a:off x="6010445" y="45419"/>
            <a:ext cx="3870574" cy="5700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800"/>
              </a:lnSpc>
              <a:defRPr b="1" sz="3000" u="sng">
                <a:latin typeface="Times New Roman"/>
                <a:ea typeface="Times New Roman"/>
                <a:cs typeface="Times New Roman"/>
                <a:sym typeface="Times New Roman"/>
              </a:defRPr>
            </a:lvl1pPr>
          </a:lstStyle>
          <a:p>
            <a:pPr/>
            <a:r>
              <a:t>TECH STACK</a:t>
            </a:r>
          </a:p>
        </p:txBody>
      </p:sp>
      <p:graphicFrame>
        <p:nvGraphicFramePr>
          <p:cNvPr id="190" name="Table 1"/>
          <p:cNvGraphicFramePr/>
          <p:nvPr/>
        </p:nvGraphicFramePr>
        <p:xfrm>
          <a:off x="770938" y="905050"/>
          <a:ext cx="13101224" cy="6432200"/>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906429"/>
                <a:gridCol w="5570176"/>
                <a:gridCol w="5611917"/>
              </a:tblGrid>
              <a:tr h="541287">
                <a:tc>
                  <a:txBody>
                    <a:bodyPr/>
                    <a:lstStyle/>
                    <a:p>
                      <a:pPr algn="ctr" defTabSz="457200">
                        <a:defRPr sz="1800"/>
                      </a:pPr>
                      <a:r>
                        <a:rPr b="1" sz="1700">
                          <a:latin typeface="Times Roman"/>
                          <a:ea typeface="Times Roman"/>
                          <a:cs typeface="Times Roman"/>
                          <a:sym typeface="Times Roman"/>
                        </a:rPr>
                        <a:t>Category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700">
                          <a:latin typeface="Times Roman"/>
                          <a:ea typeface="Times Roman"/>
                          <a:cs typeface="Times Roman"/>
                          <a:sym typeface="Times Roman"/>
                        </a:rPr>
                        <a:t>Technologies / Tools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700">
                          <a:latin typeface="Times Roman"/>
                          <a:ea typeface="Times Roman"/>
                          <a:cs typeface="Times Roman"/>
                          <a:sym typeface="Times Roman"/>
                        </a:rPr>
                        <a:t>Purpose / Usage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005398">
                <a:tc>
                  <a:txBody>
                    <a:bodyPr/>
                    <a:lstStyle/>
                    <a:p>
                      <a:pPr algn="ctr" defTabSz="457200">
                        <a:defRPr sz="1800"/>
                      </a:pPr>
                      <a:r>
                        <a:rPr b="1" sz="1700">
                          <a:latin typeface="Times Roman"/>
                          <a:ea typeface="Times Roman"/>
                          <a:cs typeface="Times Roman"/>
                          <a:sym typeface="Times Roman"/>
                        </a:rPr>
                        <a:t>Programming &amp; Data Processing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Python 3.10+ / Production aligned to Python 3.12, Pandas, NumPy, SciPy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Data manipulation, cleaning, transformation, numerical operations, and feature engineering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71803">
                <a:tc>
                  <a:txBody>
                    <a:bodyPr/>
                    <a:lstStyle/>
                    <a:p>
                      <a:pPr algn="ctr" defTabSz="457200">
                        <a:defRPr sz="1800"/>
                      </a:pPr>
                      <a:r>
                        <a:rPr b="1" sz="1700">
                          <a:latin typeface="Times Roman"/>
                          <a:ea typeface="Times Roman"/>
                          <a:cs typeface="Times Roman"/>
                          <a:sym typeface="Times Roman"/>
                        </a:rPr>
                        <a:t>Machine Learning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Scikit-learn, XGBoost, LightGBM, Scikit-Surprise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Regression, classification, recommendation, cross-validation, and hyperparameter optimization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730430">
                <a:tc>
                  <a:txBody>
                    <a:bodyPr/>
                    <a:lstStyle/>
                    <a:p>
                      <a:pPr algn="ctr" defTabSz="457200">
                        <a:defRPr sz="1800"/>
                      </a:pPr>
                      <a:r>
                        <a:rPr b="1" sz="1700">
                          <a:latin typeface="Times Roman"/>
                          <a:ea typeface="Times Roman"/>
                          <a:cs typeface="Times Roman"/>
                          <a:sym typeface="Times Roman"/>
                        </a:rPr>
                        <a:t>Explainable AI</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SHAP, Plotly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Explain how individual features influence model predictions and visualize model behavior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904858">
                <a:tc>
                  <a:txBody>
                    <a:bodyPr/>
                    <a:lstStyle/>
                    <a:p>
                      <a:pPr algn="ctr" defTabSz="457200">
                        <a:defRPr sz="1800"/>
                      </a:pPr>
                      <a:r>
                        <a:rPr b="1" sz="1700">
                          <a:latin typeface="Times Roman"/>
                          <a:ea typeface="Times Roman"/>
                          <a:cs typeface="Times Roman"/>
                          <a:sym typeface="Times Roman"/>
                        </a:rPr>
                        <a:t>Backend / API</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FastAPI, Uvicorn, Pydantic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Create prediction endpoints, validate API payloads, serve trained models, and provide interactive API documentation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730430">
                <a:tc>
                  <a:txBody>
                    <a:bodyPr/>
                    <a:lstStyle/>
                    <a:p>
                      <a:pPr algn="ctr" defTabSz="457200">
                        <a:defRPr sz="1800"/>
                      </a:pPr>
                      <a:r>
                        <a:rPr b="1" sz="1700">
                          <a:latin typeface="Times Roman"/>
                          <a:ea typeface="Times Roman"/>
                          <a:cs typeface="Times Roman"/>
                          <a:sym typeface="Times Roman"/>
                        </a:rPr>
                        <a:t>Frontend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Streamlit, Plotly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Build the interactive travel intelligence dashboard and data visualizations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730430">
                <a:tc>
                  <a:txBody>
                    <a:bodyPr/>
                    <a:lstStyle/>
                    <a:p>
                      <a:pPr algn="ctr" defTabSz="457200">
                        <a:defRPr sz="1800"/>
                      </a:pPr>
                      <a:r>
                        <a:rPr b="1" sz="1700">
                          <a:latin typeface="Times Roman"/>
                          <a:ea typeface="Times Roman"/>
                          <a:cs typeface="Times Roman"/>
                          <a:sym typeface="Times Roman"/>
                        </a:rPr>
                        <a:t>MLOps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MLflow, SQLite Tracking Backend, Feature Store, Prometheus, PSI, KS Test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Experiment tracking, model management, feature management, monitoring, and data/model drift detection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904858">
                <a:tc>
                  <a:txBody>
                    <a:bodyPr/>
                    <a:lstStyle/>
                    <a:p>
                      <a:pPr algn="ctr" defTabSz="457200">
                        <a:defRPr sz="1800"/>
                      </a:pPr>
                      <a:r>
                        <a:rPr b="1" sz="1700">
                          <a:latin typeface="Times Roman"/>
                          <a:ea typeface="Times Roman"/>
                          <a:cs typeface="Times Roman"/>
                          <a:sym typeface="Times Roman"/>
                        </a:rPr>
                        <a:t>Deployment &amp; Infrastructure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Docker, Docker Compose, Kubernetes, GitHub Actions, GitHub Container Registry, Render / Streamlit Deployment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700">
                          <a:latin typeface="Times Roman"/>
                          <a:ea typeface="Times Roman"/>
                          <a:cs typeface="Times Roman"/>
                          <a:sym typeface="Times Roman"/>
                        </a:rPr>
                        <a:t>Containerization, orchestration, CI/CD, container image management, and cloud/application deployment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ext 0"/>
          <p:cNvSpPr txBox="1"/>
          <p:nvPr/>
        </p:nvSpPr>
        <p:spPr>
          <a:xfrm>
            <a:off x="4376749" y="52568"/>
            <a:ext cx="5876902" cy="5700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b="1" sz="3000" u="sng">
                <a:latin typeface="Times New Roman"/>
                <a:ea typeface="Times New Roman"/>
                <a:cs typeface="Times New Roman"/>
                <a:sym typeface="Times New Roman"/>
              </a:defRPr>
            </a:lvl1pPr>
          </a:lstStyle>
          <a:p>
            <a:pPr/>
            <a:r>
              <a:t>ML PIPELINE ARCHITECTURE  </a:t>
            </a:r>
          </a:p>
        </p:txBody>
      </p:sp>
      <p:pic>
        <p:nvPicPr>
          <p:cNvPr id="193" name="ChatGPT Image Aug 12, 2026, 10_56_03 PM.png" descr="ChatGPT Image Aug 12, 2026, 10_56_03 PM.png"/>
          <p:cNvPicPr>
            <a:picLocks noChangeAspect="1"/>
          </p:cNvPicPr>
          <p:nvPr/>
        </p:nvPicPr>
        <p:blipFill>
          <a:blip r:embed="rId2">
            <a:extLst/>
          </a:blip>
          <a:stretch>
            <a:fillRect/>
          </a:stretch>
        </p:blipFill>
        <p:spPr>
          <a:xfrm>
            <a:off x="1299824" y="813982"/>
            <a:ext cx="12030752" cy="660163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0"/>
          <p:cNvSpPr txBox="1"/>
          <p:nvPr/>
        </p:nvSpPr>
        <p:spPr>
          <a:xfrm>
            <a:off x="4670061" y="29103"/>
            <a:ext cx="5876902" cy="5700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b="1" sz="3000" u="sng">
                <a:latin typeface="Times New Roman"/>
                <a:ea typeface="Times New Roman"/>
                <a:cs typeface="Times New Roman"/>
                <a:sym typeface="Times New Roman"/>
              </a:defRPr>
            </a:lvl1pPr>
          </a:lstStyle>
          <a:p>
            <a:pPr/>
            <a:r>
              <a:t>ML PIPELINE ARCHITECTURE  </a:t>
            </a:r>
          </a:p>
        </p:txBody>
      </p:sp>
      <p:sp>
        <p:nvSpPr>
          <p:cNvPr id="196" name="Text 1"/>
          <p:cNvSpPr txBox="1"/>
          <p:nvPr/>
        </p:nvSpPr>
        <p:spPr>
          <a:xfrm>
            <a:off x="101187" y="763641"/>
            <a:ext cx="14428026" cy="7927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8" marL="342899" indent="-342899">
              <a:lnSpc>
                <a:spcPct val="120000"/>
              </a:lnSpc>
              <a:buSzPct val="100000"/>
              <a:buChar char="•"/>
              <a:defRPr sz="2100">
                <a:latin typeface="Times New Roman"/>
                <a:ea typeface="Times New Roman"/>
                <a:cs typeface="Times New Roman"/>
                <a:sym typeface="Times New Roman"/>
              </a:defRPr>
            </a:pPr>
            <a:r>
              <a:rPr b="1"/>
              <a:t>Data Ingestion &amp; Validation :-</a:t>
            </a:r>
            <a:r>
              <a:t> Reads transaction CSV logs of Raw datasets (users.csv</a:t>
            </a:r>
            <a:r>
              <a:rPr>
                <a:latin typeface="Times Roman"/>
                <a:ea typeface="Times Roman"/>
                <a:cs typeface="Times Roman"/>
                <a:sym typeface="Times Roman"/>
              </a:rPr>
              <a:t>, </a:t>
            </a:r>
            <a:r>
              <a:t>flights.csv , hotels.csv), </a:t>
            </a:r>
            <a:r>
              <a:rPr>
                <a:latin typeface="Times Roman"/>
                <a:ea typeface="Times Roman"/>
                <a:cs typeface="Times Roman"/>
                <a:sym typeface="Times Roman"/>
              </a:rPr>
              <a:t> </a:t>
            </a:r>
            <a:endParaRPr>
              <a:latin typeface="Times Roman"/>
              <a:ea typeface="Times Roman"/>
              <a:cs typeface="Times Roman"/>
              <a:sym typeface="Times Roman"/>
            </a:endParaRPr>
          </a:p>
          <a:p>
            <a:pPr lvl="8" indent="1828800">
              <a:lnSpc>
                <a:spcPct val="120000"/>
              </a:lnSpc>
              <a:defRPr sz="2100">
                <a:latin typeface="Times New Roman"/>
                <a:ea typeface="Times New Roman"/>
                <a:cs typeface="Times New Roman"/>
                <a:sym typeface="Times New Roman"/>
              </a:defRPr>
            </a:pPr>
            <a:r>
              <a:rPr i="1"/>
              <a:t>validate.py </a:t>
            </a:r>
            <a:r>
              <a:rPr>
                <a:latin typeface="Times Roman"/>
                <a:ea typeface="Times Roman"/>
                <a:cs typeface="Times Roman"/>
                <a:sym typeface="Times Roman"/>
              </a:rPr>
              <a:t>checks : </a:t>
            </a:r>
            <a:r>
              <a:t>Schema, Data types, Missing values, Value ranges, Expected columns, Data consistency</a:t>
            </a:r>
          </a:p>
          <a:p>
            <a:pPr lvl="8" indent="1828800">
              <a:lnSpc>
                <a:spcPct val="120000"/>
              </a:lnSpc>
              <a:defRPr sz="2100">
                <a:latin typeface="Times New Roman"/>
                <a:ea typeface="Times New Roman"/>
                <a:cs typeface="Times New Roman"/>
                <a:sym typeface="Times New Roman"/>
              </a:defRPr>
            </a:pPr>
            <a:r>
              <a:t> Checks for missing columns, enforces data types, and verifies bounds (e.g. price &gt; 0).</a:t>
            </a:r>
          </a:p>
          <a:p>
            <a:pPr lvl="8" marL="342899" indent="-342899">
              <a:lnSpc>
                <a:spcPct val="120000"/>
              </a:lnSpc>
              <a:buSzPct val="100000"/>
              <a:buChar char="•"/>
              <a:defRPr b="1" sz="2100">
                <a:latin typeface="Times New Roman"/>
                <a:ea typeface="Times New Roman"/>
                <a:cs typeface="Times New Roman"/>
                <a:sym typeface="Times New Roman"/>
              </a:defRPr>
            </a:pPr>
            <a:r>
              <a:t>Data Preprocessing :- </a:t>
            </a:r>
            <a:r>
              <a:rPr b="0" i="1"/>
              <a:t>preprocess.py</a:t>
            </a:r>
            <a:r>
              <a:rPr b="0" i="1">
                <a:latin typeface="Times Roman"/>
                <a:ea typeface="Times Roman"/>
                <a:cs typeface="Times Roman"/>
                <a:sym typeface="Times Roman"/>
              </a:rPr>
              <a:t>  </a:t>
            </a:r>
            <a:r>
              <a:rPr b="0"/>
              <a:t>handles missing values, Cleans data, Removes duplicates, Converts categorical information, Prepares consistent training data</a:t>
            </a:r>
          </a:p>
          <a:p>
            <a:pPr lvl="8" marL="342899" indent="-342899">
              <a:lnSpc>
                <a:spcPct val="120000"/>
              </a:lnSpc>
              <a:buSzPct val="100000"/>
              <a:buChar char="•"/>
              <a:defRPr sz="2100">
                <a:latin typeface="Times New Roman"/>
                <a:ea typeface="Times New Roman"/>
                <a:cs typeface="Times New Roman"/>
                <a:sym typeface="Times New Roman"/>
              </a:defRPr>
            </a:pPr>
            <a:r>
              <a:rPr b="1"/>
              <a:t>Feature Engineering :-</a:t>
            </a:r>
            <a:r>
              <a:t> Extracts route distances and duration matrices from city pairs. Processes dates to extract features like departure month, weekdays, and holiday flags. </a:t>
            </a:r>
            <a:r>
              <a:rPr i="1"/>
              <a:t>feature_engineering.py</a:t>
            </a:r>
            <a:r>
              <a:t> derives useful features such as  Engagement level, Delay ratio, Absolute delay, Click intensity, Activity score</a:t>
            </a:r>
          </a:p>
          <a:p>
            <a:pPr lvl="8" marL="342899" indent="-342899">
              <a:lnSpc>
                <a:spcPct val="120000"/>
              </a:lnSpc>
              <a:buSzPct val="100000"/>
              <a:buChar char="•"/>
              <a:defRPr sz="2100">
                <a:latin typeface="Times New Roman"/>
                <a:ea typeface="Times New Roman"/>
                <a:cs typeface="Times New Roman"/>
                <a:sym typeface="Times New Roman"/>
              </a:defRPr>
            </a:pPr>
            <a:r>
              <a:rPr b="1"/>
              <a:t>Feature Store :-</a:t>
            </a:r>
            <a:r>
              <a:t> Processed and engineered features are stored in </a:t>
            </a:r>
            <a:r>
              <a:rPr i="1"/>
              <a:t>data/processed/ </a:t>
            </a:r>
            <a:r>
              <a:t>and reused by the training pipelines.</a:t>
            </a:r>
          </a:p>
          <a:p>
            <a:pPr lvl="8" marL="342899" indent="-342899">
              <a:lnSpc>
                <a:spcPct val="120000"/>
              </a:lnSpc>
              <a:buSzPct val="100000"/>
              <a:buChar char="•"/>
              <a:defRPr sz="2100">
                <a:latin typeface="Times New Roman"/>
                <a:ea typeface="Times New Roman"/>
                <a:cs typeface="Times New Roman"/>
                <a:sym typeface="Times New Roman"/>
              </a:defRPr>
            </a:pPr>
            <a:r>
              <a:rPr b="1"/>
              <a:t>Model Training &amp; Training :-</a:t>
            </a:r>
            <a:r>
              <a:t> Competes multiple algorithms in parallel during training. Evaluates them on stratified test data using MLflow Tracking. Three independent training pipelines : Flight → XGBoost , Gender → Random Forest , Hotel → SVD + Content-Based</a:t>
            </a:r>
          </a:p>
          <a:p>
            <a:pPr lvl="8" marL="342899" indent="-342899">
              <a:lnSpc>
                <a:spcPct val="120000"/>
              </a:lnSpc>
              <a:buSzPct val="100000"/>
              <a:buChar char="•"/>
              <a:defRPr sz="2100">
                <a:latin typeface="Times New Roman"/>
                <a:ea typeface="Times New Roman"/>
                <a:cs typeface="Times New Roman"/>
                <a:sym typeface="Times New Roman"/>
              </a:defRPr>
            </a:pPr>
            <a:r>
              <a:rPr b="1"/>
              <a:t>MLflow :-</a:t>
            </a:r>
            <a:r>
              <a:t> Tracks Parameters, Metrics, Experiments, Model artifacts, Model versions</a:t>
            </a:r>
          </a:p>
          <a:p>
            <a:pPr lvl="8" marL="342899" indent="-342899">
              <a:lnSpc>
                <a:spcPct val="120000"/>
              </a:lnSpc>
              <a:buSzPct val="100000"/>
              <a:buChar char="•"/>
              <a:defRPr sz="2100">
                <a:latin typeface="Times New Roman"/>
                <a:ea typeface="Times New Roman"/>
                <a:cs typeface="Times New Roman"/>
                <a:sym typeface="Times New Roman"/>
              </a:defRPr>
            </a:pPr>
            <a:r>
              <a:rPr b="1"/>
              <a:t>Production Serving :-</a:t>
            </a:r>
            <a:r>
              <a:t> FastAPI loads production models and exposes prediction endpoints.</a:t>
            </a:r>
          </a:p>
          <a:p>
            <a:pPr lvl="8" marL="342899" indent="-342899">
              <a:lnSpc>
                <a:spcPct val="120000"/>
              </a:lnSpc>
              <a:buSzPct val="100000"/>
              <a:buChar char="•"/>
              <a:defRPr sz="2100">
                <a:latin typeface="Times New Roman"/>
                <a:ea typeface="Times New Roman"/>
                <a:cs typeface="Times New Roman"/>
                <a:sym typeface="Times New Roman"/>
              </a:defRPr>
            </a:pPr>
            <a:r>
              <a:rPr b="1"/>
              <a:t>Dashboard :-</a:t>
            </a:r>
            <a:r>
              <a:t> Streamlit provides the interactive interface.</a:t>
            </a:r>
          </a:p>
          <a:p>
            <a:pPr lvl="8" marL="342899" indent="-342899">
              <a:lnSpc>
                <a:spcPct val="120000"/>
              </a:lnSpc>
              <a:buSzPct val="100000"/>
              <a:buChar char="•"/>
              <a:defRPr sz="2100">
                <a:latin typeface="Times New Roman"/>
                <a:ea typeface="Times New Roman"/>
                <a:cs typeface="Times New Roman"/>
                <a:sym typeface="Times New Roman"/>
              </a:defRPr>
            </a:pPr>
            <a:r>
              <a:rPr b="1"/>
              <a:t>Monitoring :-</a:t>
            </a:r>
            <a:r>
              <a:t> Incoming data is monitored using PSI, KS statistics, API latency, Request metrics, Status codes</a:t>
            </a:r>
          </a:p>
          <a:p>
            <a:pPr lvl="8" marL="342899" indent="-342899">
              <a:lnSpc>
                <a:spcPct val="120000"/>
              </a:lnSpc>
              <a:buSzPct val="100000"/>
              <a:buChar char="•"/>
              <a:defRPr sz="2100">
                <a:latin typeface="Times New Roman"/>
                <a:ea typeface="Times New Roman"/>
                <a:cs typeface="Times New Roman"/>
                <a:sym typeface="Times New Roman"/>
              </a:defRPr>
            </a:pPr>
            <a:r>
              <a:rPr b="1"/>
              <a:t>Promotion Registry :-</a:t>
            </a:r>
            <a:r>
              <a:t> Promotes the candidate model with the best score (F1/RMSE) to 'Production' stage, registers metadata, and serializes the model to joblib.</a:t>
            </a:r>
          </a:p>
          <a:p>
            <a:pPr lvl="8" marL="342899" indent="-342899">
              <a:lnSpc>
                <a:spcPct val="120000"/>
              </a:lnSpc>
              <a:buSzPct val="100000"/>
              <a:buChar char="•"/>
              <a:defRPr sz="2100">
                <a:latin typeface="Times New Roman"/>
                <a:ea typeface="Times New Roman"/>
                <a:cs typeface="Times New Roman"/>
                <a:sym typeface="Times New Roman"/>
              </a:defRPr>
            </a:pPr>
            <a:r>
              <a:rPr b="1"/>
              <a:t>Inference Cycle :-</a:t>
            </a:r>
            <a:r>
              <a:t> Deployed FastAPI endpoints fetch the registered model from cache and serve live client prediction requests.</a:t>
            </a:r>
          </a:p>
          <a:p>
            <a:pPr>
              <a:lnSpc>
                <a:spcPct val="120000"/>
              </a:lnSpc>
              <a:defRPr sz="2100">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 0"/>
          <p:cNvSpPr txBox="1"/>
          <p:nvPr/>
        </p:nvSpPr>
        <p:spPr>
          <a:xfrm>
            <a:off x="5315348" y="52568"/>
            <a:ext cx="4359784" cy="5700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b="1" sz="3000" u="sng">
                <a:latin typeface="Times New Roman"/>
                <a:ea typeface="Times New Roman"/>
                <a:cs typeface="Times New Roman"/>
                <a:sym typeface="Times New Roman"/>
              </a:defRPr>
            </a:lvl1pPr>
          </a:lstStyle>
          <a:p>
            <a:pPr/>
            <a:r>
              <a:t>SYSTEM WORKFLOW   </a:t>
            </a:r>
          </a:p>
        </p:txBody>
      </p:sp>
      <p:pic>
        <p:nvPicPr>
          <p:cNvPr id="199" name="ChatGPT Image Aug 12, 2026, 10_59_43 PM.png" descr="ChatGPT Image Aug 12, 2026, 10_59_43 PM.png"/>
          <p:cNvPicPr>
            <a:picLocks noChangeAspect="1"/>
          </p:cNvPicPr>
          <p:nvPr/>
        </p:nvPicPr>
        <p:blipFill>
          <a:blip r:embed="rId2">
            <a:extLst/>
          </a:blip>
          <a:srcRect l="0" t="8588" r="0" b="2626"/>
          <a:stretch>
            <a:fillRect/>
          </a:stretch>
        </p:blipFill>
        <p:spPr>
          <a:xfrm>
            <a:off x="307678" y="794261"/>
            <a:ext cx="14015044" cy="6823956"/>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Model 1: Flight Price Prediction (Supervised Regression)"/>
          <p:cNvSpPr txBox="1"/>
          <p:nvPr/>
        </p:nvSpPr>
        <p:spPr>
          <a:xfrm>
            <a:off x="2488176" y="174654"/>
            <a:ext cx="9930272" cy="5070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Model 1: Flight Price Prediction (Supervised Regression)</a:t>
            </a:r>
          </a:p>
        </p:txBody>
      </p:sp>
      <p:sp>
        <p:nvSpPr>
          <p:cNvPr id="202" name="Text 2"/>
          <p:cNvSpPr txBox="1"/>
          <p:nvPr/>
        </p:nvSpPr>
        <p:spPr>
          <a:xfrm>
            <a:off x="657966" y="6333941"/>
            <a:ext cx="13433029" cy="11573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100"/>
              </a:lnSpc>
              <a:defRPr i="1" sz="2000">
                <a:solidFill>
                  <a:srgbClr val="3D3838"/>
                </a:solidFill>
                <a:latin typeface="Times New Roman"/>
                <a:ea typeface="Times New Roman"/>
                <a:cs typeface="Times New Roman"/>
                <a:sym typeface="Times New Roman"/>
              </a:defRPr>
            </a:lvl1pPr>
          </a:lstStyle>
          <a:p>
            <a:pPr/>
            <a:r>
              <a:t>The Flight Price model uses XGBoost. Instead of forcing users to guess numerical airport IDs or distances, they use city name dropdowns. The system automatically maps these to coordinates, calculates the flight distance and duration under the hood, runs the prediction, and uses SHAP to show exactly how much parameters like cabin class or distance added to the final price.</a:t>
            </a:r>
          </a:p>
        </p:txBody>
      </p:sp>
      <p:sp>
        <p:nvSpPr>
          <p:cNvPr id="203" name="Predict the expected domestic flight ticket price in BRL (Brazilian Real) based on travel and route characteristics.…"/>
          <p:cNvSpPr txBox="1"/>
          <p:nvPr/>
        </p:nvSpPr>
        <p:spPr>
          <a:xfrm>
            <a:off x="282137" y="1007595"/>
            <a:ext cx="14066127"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Roman"/>
                <a:ea typeface="Times Roman"/>
                <a:cs typeface="Times Roman"/>
                <a:sym typeface="Times Roman"/>
              </a:defRPr>
            </a:pPr>
            <a:r>
              <a:t>Predict the expected domestic flight ticket price in </a:t>
            </a:r>
            <a:r>
              <a:rPr b="1"/>
              <a:t>BRL (Brazilian Real)</a:t>
            </a:r>
            <a:r>
              <a:t> based on travel and route characteristics.</a:t>
            </a:r>
          </a:p>
          <a:p>
            <a:pPr defTabSz="457200">
              <a:spcBef>
                <a:spcPts val="1400"/>
              </a:spcBef>
              <a:defRPr b="1" sz="1700">
                <a:latin typeface="Times Roman"/>
                <a:ea typeface="Times Roman"/>
                <a:cs typeface="Times Roman"/>
                <a:sym typeface="Times Roman"/>
              </a:defRPr>
            </a:pPr>
            <a:r>
              <a:t>Input Features :- </a:t>
            </a:r>
            <a:r>
              <a:rPr b="0"/>
              <a:t>Travel class, Travel agency, Route information. Route distance, Flight duration, Month of departure, Day of week, Public holiday information, Agency scale factor</a:t>
            </a:r>
          </a:p>
        </p:txBody>
      </p:sp>
      <p:graphicFrame>
        <p:nvGraphicFramePr>
          <p:cNvPr id="204" name="Table 1"/>
          <p:cNvGraphicFramePr/>
          <p:nvPr/>
        </p:nvGraphicFramePr>
        <p:xfrm>
          <a:off x="11723474" y="2345671"/>
          <a:ext cx="2616344" cy="1908642"/>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556925"/>
                <a:gridCol w="1046717"/>
              </a:tblGrid>
              <a:tr h="381443">
                <a:tc>
                  <a:txBody>
                    <a:bodyPr/>
                    <a:lstStyle/>
                    <a:p>
                      <a:pPr algn="ctr" defTabSz="457200">
                        <a:defRPr sz="1800"/>
                      </a:pPr>
                      <a:r>
                        <a:rPr b="1" sz="1200">
                          <a:latin typeface="Times Roman"/>
                          <a:ea typeface="Times Roman"/>
                          <a:cs typeface="Times Roman"/>
                          <a:sym typeface="Times Roman"/>
                        </a:rPr>
                        <a:t>Algorithm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200">
                          <a:latin typeface="Times Roman"/>
                          <a:ea typeface="Times Roman"/>
                          <a:cs typeface="Times Roman"/>
                          <a:sym typeface="Times Roman"/>
                        </a:rPr>
                        <a:t>Baseline R²</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1443">
                <a:tc>
                  <a:txBody>
                    <a:bodyPr/>
                    <a:lstStyle/>
                    <a:p>
                      <a:pPr algn="ctr" defTabSz="457200">
                        <a:defRPr sz="1800"/>
                      </a:pPr>
                      <a:r>
                        <a:rPr sz="1200">
                          <a:latin typeface="Times Roman"/>
                          <a:ea typeface="Times Roman"/>
                          <a:cs typeface="Times Roman"/>
                          <a:sym typeface="Times Roman"/>
                        </a:rPr>
                        <a:t>Linear Regression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0.5623</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82670">
                <a:tc>
                  <a:txBody>
                    <a:bodyPr/>
                    <a:lstStyle/>
                    <a:p>
                      <a:pPr algn="ctr" defTabSz="457200">
                        <a:defRPr sz="1800"/>
                      </a:pPr>
                      <a:r>
                        <a:rPr sz="1200">
                          <a:latin typeface="Times Roman"/>
                          <a:ea typeface="Times Roman"/>
                          <a:cs typeface="Times Roman"/>
                          <a:sym typeface="Times Roman"/>
                        </a:rPr>
                        <a:t>Ridge Regression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0.5619</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82670">
                <a:tc>
                  <a:txBody>
                    <a:bodyPr/>
                    <a:lstStyle/>
                    <a:p>
                      <a:pPr algn="ctr" defTabSz="457200">
                        <a:defRPr sz="1800"/>
                      </a:pPr>
                      <a:r>
                        <a:rPr sz="1200">
                          <a:latin typeface="Times Roman"/>
                          <a:ea typeface="Times Roman"/>
                          <a:cs typeface="Times Roman"/>
                          <a:sym typeface="Times Roman"/>
                        </a:rPr>
                        <a:t>Random Forest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0.9971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82670">
                <a:tc>
                  <a:txBody>
                    <a:bodyPr/>
                    <a:lstStyle/>
                    <a:p>
                      <a:pPr algn="ctr" defTabSz="457200">
                        <a:defRPr sz="1800"/>
                      </a:pPr>
                      <a:r>
                        <a:rPr sz="1200">
                          <a:latin typeface="Times Roman"/>
                          <a:ea typeface="Times Roman"/>
                          <a:cs typeface="Times Roman"/>
                          <a:sym typeface="Times Roman"/>
                        </a:rPr>
                        <a:t>LightGBM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0.9961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82670">
                <a:tc>
                  <a:txBody>
                    <a:bodyPr/>
                    <a:lstStyle/>
                    <a:p>
                      <a:pPr algn="ctr" defTabSz="457200">
                        <a:defRPr sz="1800"/>
                      </a:pPr>
                      <a:r>
                        <a:rPr sz="1200">
                          <a:latin typeface="Times Roman"/>
                          <a:ea typeface="Times Roman"/>
                          <a:cs typeface="Times Roman"/>
                          <a:sym typeface="Times Roman"/>
                        </a:rPr>
                        <a:t>XGBoost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0.9948</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
        <p:nvSpPr>
          <p:cNvPr id="205" name="Final Model :- Tuned XGBoost Regressor ( Hyperparameter optimization was performed using 5-fold RandomizedSearchCV.)…"/>
          <p:cNvSpPr txBox="1"/>
          <p:nvPr/>
        </p:nvSpPr>
        <p:spPr>
          <a:xfrm>
            <a:off x="279112" y="2185894"/>
            <a:ext cx="14190738" cy="353825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New Roman"/>
                <a:ea typeface="Times New Roman"/>
                <a:cs typeface="Times New Roman"/>
                <a:sym typeface="Times New Roman"/>
              </a:defRPr>
            </a:pPr>
            <a:r>
              <a:t>Final Model :- Tuned XGBoost Regressor ( Hyperparameter optimization was performed using </a:t>
            </a:r>
            <a:r>
              <a:rPr b="1"/>
              <a:t>5-fold RandomizedSearchCV</a:t>
            </a:r>
            <a:r>
              <a:t>.)</a:t>
            </a:r>
          </a:p>
          <a:p>
            <a:pPr lvl="1" indent="228600" defTabSz="457200">
              <a:spcBef>
                <a:spcPts val="1400"/>
              </a:spcBef>
              <a:defRPr b="1" sz="1700">
                <a:latin typeface="Times New Roman"/>
                <a:ea typeface="Times New Roman"/>
                <a:cs typeface="Times New Roman"/>
                <a:sym typeface="Times New Roman"/>
              </a:defRPr>
            </a:pPr>
            <a:r>
              <a:t>Final Reported Parameters : </a:t>
            </a:r>
            <a:r>
              <a:rPr b="0"/>
              <a:t>learning_rate = 0.08 , max_depth = 6 , n_estimators = 100 , subsample = 0.8 ,</a:t>
            </a:r>
            <a:endParaRPr b="0"/>
          </a:p>
          <a:p>
            <a:pPr lvl="1" indent="228600" defTabSz="457200">
              <a:spcBef>
                <a:spcPts val="1400"/>
              </a:spcBef>
              <a:defRPr sz="1700">
                <a:latin typeface="Times New Roman"/>
                <a:ea typeface="Times New Roman"/>
                <a:cs typeface="Times New Roman"/>
                <a:sym typeface="Times New Roman"/>
              </a:defRPr>
            </a:pPr>
            <a:r>
              <a:t>colsample_bytree = 0.8</a:t>
            </a:r>
          </a:p>
          <a:p>
            <a:pPr lvl="1" indent="228600" defTabSz="457200">
              <a:spcBef>
                <a:spcPts val="1400"/>
              </a:spcBef>
              <a:defRPr b="1" sz="1700">
                <a:latin typeface="Times New Roman"/>
                <a:ea typeface="Times New Roman"/>
                <a:cs typeface="Times New Roman"/>
                <a:sym typeface="Times New Roman"/>
              </a:defRPr>
            </a:pPr>
            <a:r>
              <a:t>Final Performance , R² = 0.9973</a:t>
            </a:r>
          </a:p>
          <a:p>
            <a:pPr defTabSz="457200">
              <a:spcBef>
                <a:spcPts val="1200"/>
              </a:spcBef>
              <a:defRPr sz="1700">
                <a:latin typeface="Times New Roman"/>
                <a:ea typeface="Times New Roman"/>
                <a:cs typeface="Times New Roman"/>
                <a:sym typeface="Times New Roman"/>
              </a:defRPr>
            </a:pPr>
            <a:r>
              <a:t>Additional project output : Approximate error variance: </a:t>
            </a:r>
            <a:r>
              <a:rPr b="1"/>
              <a:t>±19.3 BRL &amp; </a:t>
            </a:r>
            <a:r>
              <a:t>95% prediction interval</a:t>
            </a:r>
          </a:p>
          <a:p>
            <a:pPr defTabSz="457200">
              <a:spcBef>
                <a:spcPts val="1400"/>
              </a:spcBef>
              <a:defRPr b="1" sz="1700">
                <a:latin typeface="Times New Roman"/>
                <a:ea typeface="Times New Roman"/>
                <a:cs typeface="Times New Roman"/>
                <a:sym typeface="Times New Roman"/>
              </a:defRPr>
            </a:pPr>
            <a:r>
              <a:t>Explainability SHAP is used to explain individual predictions.</a:t>
            </a:r>
          </a:p>
          <a:p>
            <a:pPr defTabSz="457200">
              <a:spcBef>
                <a:spcPts val="1200"/>
              </a:spcBef>
              <a:defRPr sz="1700">
                <a:latin typeface="Times New Roman"/>
                <a:ea typeface="Times New Roman"/>
                <a:cs typeface="Times New Roman"/>
                <a:sym typeface="Times New Roman"/>
              </a:defRPr>
            </a:pPr>
            <a:r>
              <a:t>For example, SHAP can show whether : travel class increased the predicted price, route/distance increased the price, travel timing affected the prediction, agency-related variables pushed the prediction up or down.</a:t>
            </a:r>
          </a:p>
          <a:p>
            <a:pPr defTabSz="457200">
              <a:spcBef>
                <a:spcPts val="1400"/>
              </a:spcBef>
              <a:defRPr b="1" sz="1700">
                <a:latin typeface="Times New Roman"/>
                <a:ea typeface="Times New Roman"/>
                <a:cs typeface="Times New Roman"/>
                <a:sym typeface="Times New Roman"/>
              </a:defRPr>
            </a:pPr>
            <a:r>
              <a:t>Production Output :- </a:t>
            </a:r>
            <a:r>
              <a:rPr b="0"/>
              <a:t>Predicted Flight Price + 95% Prediction Range + Feature Explanation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Model 2: Gender Classifier (Supervised Binary Classification)"/>
          <p:cNvSpPr txBox="1"/>
          <p:nvPr/>
        </p:nvSpPr>
        <p:spPr>
          <a:xfrm>
            <a:off x="2712127" y="245048"/>
            <a:ext cx="10366573" cy="5070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457200">
              <a:spcBef>
                <a:spcPts val="500"/>
              </a:spcBef>
              <a:defRPr b="1" sz="3000" u="sng">
                <a:latin typeface="Times New Roman"/>
                <a:ea typeface="Times New Roman"/>
                <a:cs typeface="Times New Roman"/>
                <a:sym typeface="Times New Roman"/>
              </a:defRPr>
            </a:pPr>
            <a:r>
              <a:t>Model 2: Gender Classifier (Supervised Binary Classification</a:t>
            </a:r>
            <a:r>
              <a:rPr b="0"/>
              <a:t>)</a:t>
            </a:r>
          </a:p>
        </p:txBody>
      </p:sp>
      <p:sp>
        <p:nvSpPr>
          <p:cNvPr id="208" name="Text 2"/>
          <p:cNvSpPr txBox="1"/>
          <p:nvPr/>
        </p:nvSpPr>
        <p:spPr>
          <a:xfrm>
            <a:off x="713332" y="6775182"/>
            <a:ext cx="13433029" cy="1160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100"/>
              </a:lnSpc>
              <a:defRPr i="1" sz="2100">
                <a:solidFill>
                  <a:srgbClr val="3D3838"/>
                </a:solidFill>
                <a:latin typeface="Times New Roman"/>
                <a:ea typeface="Times New Roman"/>
                <a:cs typeface="Times New Roman"/>
                <a:sym typeface="Times New Roman"/>
              </a:defRPr>
            </a:lvl1pPr>
          </a:lstStyle>
          <a:p>
            <a:pPr/>
            <a:r>
              <a:t>For traveler profiling, we use a Random Forest. To prevent overfitting, we reduced the feature space from 10 inputs to 6 independent ones. We removed multicollinear inputs like total spend which is just price multiplied by frequency and binned age groups. Combined with strict tree constraints, this keeps the train/test accuracy gap below 5%.</a:t>
            </a:r>
          </a:p>
        </p:txBody>
      </p:sp>
      <p:sp>
        <p:nvSpPr>
          <p:cNvPr id="209" name="Infer traveler gender from behavioral and transactional travel information and support traveler persona profiling.…"/>
          <p:cNvSpPr txBox="1"/>
          <p:nvPr/>
        </p:nvSpPr>
        <p:spPr>
          <a:xfrm>
            <a:off x="282137" y="948933"/>
            <a:ext cx="14066127" cy="37656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New Roman"/>
                <a:ea typeface="Times New Roman"/>
                <a:cs typeface="Times New Roman"/>
                <a:sym typeface="Times New Roman"/>
              </a:defRPr>
            </a:pPr>
            <a:r>
              <a:t>Infer traveler gender from behavioral and transactional travel information and support traveler persona profiling.</a:t>
            </a:r>
          </a:p>
          <a:p>
            <a:pPr defTabSz="457200">
              <a:spcBef>
                <a:spcPts val="1400"/>
              </a:spcBef>
              <a:defRPr b="1" sz="1700">
                <a:latin typeface="Times New Roman"/>
                <a:ea typeface="Times New Roman"/>
                <a:cs typeface="Times New Roman"/>
                <a:sym typeface="Times New Roman"/>
              </a:defRPr>
            </a:pPr>
            <a:r>
              <a:t>Final Feature Set :- </a:t>
            </a:r>
            <a:r>
              <a:rPr b="0"/>
              <a:t>The production enhancement reduced the feature space to 6 independent behavioral features </a:t>
            </a:r>
            <a:endParaRPr b="0"/>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age</a:t>
            </a:r>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travel_frequency</a:t>
            </a:r>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avg_flight_price</a:t>
            </a:r>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preferred_flight_type_enc</a:t>
            </a:r>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hotel_bookings</a:t>
            </a:r>
          </a:p>
          <a:p>
            <a:pPr lvl="1" marL="596900" indent="-317500" defTabSz="457200">
              <a:buSzPct val="100000"/>
              <a:buFont typeface="Courier"/>
              <a:buAutoNum type="arabicPeriod" startAt="1"/>
              <a:defRPr sz="1700">
                <a:latin typeface="Times New Roman"/>
                <a:ea typeface="Times New Roman"/>
                <a:cs typeface="Times New Roman"/>
                <a:sym typeface="Times New Roman"/>
              </a:defRPr>
            </a:pPr>
            <a:r>
              <a:t>avg_hotel_spend</a:t>
            </a:r>
          </a:p>
          <a:p>
            <a:pPr defTabSz="457200">
              <a:defRPr sz="1700">
                <a:latin typeface="Times New Roman"/>
                <a:ea typeface="Times New Roman"/>
                <a:cs typeface="Times New Roman"/>
                <a:sym typeface="Times New Roman"/>
              </a:defRPr>
            </a:pPr>
          </a:p>
          <a:p>
            <a:pPr defTabSz="457200">
              <a:spcBef>
                <a:spcPts val="1200"/>
              </a:spcBef>
              <a:defRPr sz="1700">
                <a:latin typeface="Times New Roman"/>
                <a:ea typeface="Times New Roman"/>
                <a:cs typeface="Times New Roman"/>
                <a:sym typeface="Times New Roman"/>
              </a:defRPr>
            </a:pPr>
            <a:r>
              <a:t>The previous feature set contained derived/overlapping variables.</a:t>
            </a:r>
          </a:p>
          <a:p>
            <a:pPr defTabSz="457200">
              <a:spcBef>
                <a:spcPts val="1200"/>
              </a:spcBef>
              <a:defRPr sz="1700">
                <a:latin typeface="Times New Roman"/>
                <a:ea typeface="Times New Roman"/>
                <a:cs typeface="Times New Roman"/>
                <a:sym typeface="Times New Roman"/>
              </a:defRPr>
            </a:pPr>
            <a:r>
              <a:t>Examples : total_flight_spend can be derived from price × frequency and age_group_enc is derived from age.</a:t>
            </a:r>
          </a:p>
          <a:p>
            <a:pPr defTabSz="457200">
              <a:spcBef>
                <a:spcPts val="1200"/>
              </a:spcBef>
              <a:defRPr sz="1700">
                <a:latin typeface="Times New Roman"/>
                <a:ea typeface="Times New Roman"/>
                <a:cs typeface="Times New Roman"/>
                <a:sym typeface="Times New Roman"/>
              </a:defRPr>
            </a:pPr>
            <a:r>
              <a:t>Keeping such variables can : increase redundancy, increase model complexity, encourage overfitting, create a larger train/test performance gap</a:t>
            </a:r>
          </a:p>
        </p:txBody>
      </p:sp>
      <p:sp>
        <p:nvSpPr>
          <p:cNvPr id="210" name="Final Model :- Tuned Random Forest Classifier…"/>
          <p:cNvSpPr txBox="1"/>
          <p:nvPr/>
        </p:nvSpPr>
        <p:spPr>
          <a:xfrm>
            <a:off x="334478" y="4794886"/>
            <a:ext cx="14190738" cy="254726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New Roman"/>
                <a:ea typeface="Times New Roman"/>
                <a:cs typeface="Times New Roman"/>
                <a:sym typeface="Times New Roman"/>
              </a:defRPr>
            </a:pPr>
            <a:r>
              <a:rPr b="1"/>
              <a:t>Final Model :- </a:t>
            </a:r>
            <a:r>
              <a:t>Tuned Random Forest Classifier  </a:t>
            </a:r>
          </a:p>
          <a:p>
            <a:pPr lvl="1" indent="228600" defTabSz="457200">
              <a:spcBef>
                <a:spcPts val="1400"/>
              </a:spcBef>
              <a:defRPr b="1" sz="1700">
                <a:latin typeface="Times New Roman"/>
                <a:ea typeface="Times New Roman"/>
                <a:cs typeface="Times New Roman"/>
                <a:sym typeface="Times New Roman"/>
              </a:defRPr>
            </a:pPr>
            <a:r>
              <a:t>Reported Production Performance : Accuracy: 57.22% , F1: 57.22% , ROC-AUC: 58.63%</a:t>
            </a:r>
          </a:p>
          <a:p>
            <a:pPr defTabSz="457200">
              <a:spcBef>
                <a:spcPts val="1400"/>
              </a:spcBef>
              <a:defRPr b="1" sz="1700">
                <a:latin typeface="Times New Roman"/>
                <a:ea typeface="Times New Roman"/>
                <a:cs typeface="Times New Roman"/>
                <a:sym typeface="Times New Roman"/>
              </a:defRPr>
            </a:pPr>
            <a:r>
              <a:t>Regularization / Generalization :- </a:t>
            </a:r>
            <a:r>
              <a:rPr b="0"/>
              <a:t>The production enhancement introduced stronger constraints such as Maximum tree depth, Minimum samples per leaf, Reduced feature space, Regularization of candidate models. The goal was to improve generalization rather than simply maximize training accuracy.</a:t>
            </a:r>
            <a:endParaRPr b="0"/>
          </a:p>
          <a:p>
            <a:pPr defTabSz="457200">
              <a:spcBef>
                <a:spcPts val="1400"/>
              </a:spcBef>
              <a:defRPr b="1" sz="1700">
                <a:latin typeface="Times New Roman"/>
                <a:ea typeface="Times New Roman"/>
                <a:cs typeface="Times New Roman"/>
                <a:sym typeface="Times New Roman"/>
              </a:defRPr>
            </a:pPr>
            <a:r>
              <a:t>Traveler Persona Layer :- </a:t>
            </a:r>
            <a:r>
              <a:rPr b="0"/>
              <a:t>The classifier can contribute to persona identification such as Premium Corporate Traveler, Occasional Leisure Traveler</a:t>
            </a:r>
            <a:endParaRPr b="0"/>
          </a:p>
          <a:p>
            <a:pPr marL="457200" indent="-457200" defTabSz="457200">
              <a:tabLst>
                <a:tab pos="139700" algn="l"/>
                <a:tab pos="457200" algn="l"/>
              </a:tabLst>
              <a:defRPr sz="1700">
                <a:latin typeface="Times New Roman"/>
                <a:ea typeface="Times New Roman"/>
                <a:cs typeface="Times New Roman"/>
                <a:sym typeface="Times New Roman"/>
              </a:defRPr>
            </a:pPr>
          </a:p>
        </p:txBody>
      </p:sp>
      <p:graphicFrame>
        <p:nvGraphicFramePr>
          <p:cNvPr id="211" name="Table 1"/>
          <p:cNvGraphicFramePr/>
          <p:nvPr/>
        </p:nvGraphicFramePr>
        <p:xfrm>
          <a:off x="10391054" y="1757019"/>
          <a:ext cx="3892118" cy="2132126"/>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011054"/>
                <a:gridCol w="1052984"/>
                <a:gridCol w="815378"/>
              </a:tblGrid>
              <a:tr h="429898">
                <a:tc>
                  <a:txBody>
                    <a:bodyPr/>
                    <a:lstStyle/>
                    <a:p>
                      <a:pPr algn="ctr" defTabSz="457200">
                        <a:defRPr sz="1800"/>
                      </a:pPr>
                      <a:r>
                        <a:rPr b="1" sz="1200">
                          <a:latin typeface="Times Roman"/>
                          <a:ea typeface="Times Roman"/>
                          <a:cs typeface="Times Roman"/>
                          <a:sym typeface="Times Roman"/>
                        </a:rPr>
                        <a:t>Algorithm</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b="1" sz="1200">
                          <a:latin typeface="Times Roman"/>
                          <a:ea typeface="Times Roman"/>
                          <a:cs typeface="Times Roman"/>
                          <a:sym typeface="Times Roman"/>
                        </a:rPr>
                        <a:t>Accuracy</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b="1" sz="1200">
                          <a:latin typeface="Times Roman"/>
                          <a:ea typeface="Times Roman"/>
                          <a:cs typeface="Times Roman"/>
                          <a:sym typeface="Times Roman"/>
                        </a:rPr>
                        <a:t>F1</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429898">
                <a:tc>
                  <a:txBody>
                    <a:bodyPr/>
                    <a:lstStyle/>
                    <a:p>
                      <a:pPr algn="ctr" defTabSz="457200">
                        <a:defRPr sz="1800"/>
                      </a:pPr>
                      <a:r>
                        <a:rPr sz="1200">
                          <a:latin typeface="Times Roman"/>
                          <a:ea typeface="Times Roman"/>
                          <a:cs typeface="Times Roman"/>
                          <a:sym typeface="Times Roman"/>
                        </a:rPr>
                        <a:t>Logistic Regression</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48.33%</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48.32%</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429898">
                <a:tc>
                  <a:txBody>
                    <a:bodyPr/>
                    <a:lstStyle/>
                    <a:p>
                      <a:pPr algn="ctr" defTabSz="457200">
                        <a:defRPr sz="1800"/>
                      </a:pPr>
                      <a:r>
                        <a:rPr sz="1200">
                          <a:latin typeface="Times Roman"/>
                          <a:ea typeface="Times Roman"/>
                          <a:cs typeface="Times Roman"/>
                          <a:sym typeface="Times Roman"/>
                        </a:rPr>
                        <a:t>Decision Tree</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48.89%</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44.23%</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429898">
                <a:tc>
                  <a:txBody>
                    <a:bodyPr/>
                    <a:lstStyle/>
                    <a:p>
                      <a:pPr algn="ctr" defTabSz="457200">
                        <a:defRPr sz="1800"/>
                      </a:pPr>
                      <a:r>
                        <a:rPr sz="1200">
                          <a:latin typeface="Times Roman"/>
                          <a:ea typeface="Times Roman"/>
                          <a:cs typeface="Times Roman"/>
                          <a:sym typeface="Times Roman"/>
                        </a:rPr>
                        <a:t>XGBoost</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53.33%</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53.24%</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r h="429898">
                <a:tc>
                  <a:txBody>
                    <a:bodyPr/>
                    <a:lstStyle/>
                    <a:p>
                      <a:pPr algn="ctr" defTabSz="457200">
                        <a:defRPr sz="1800"/>
                      </a:pPr>
                      <a:r>
                        <a:rPr sz="1200">
                          <a:latin typeface="Times Roman"/>
                          <a:ea typeface="Times Roman"/>
                          <a:cs typeface="Times Roman"/>
                          <a:sym typeface="Times Roman"/>
                        </a:rPr>
                        <a:t>Random Forest</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54.10%</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200">
                          <a:latin typeface="Times Roman"/>
                          <a:ea typeface="Times Roman"/>
                          <a:cs typeface="Times Roman"/>
                          <a:sym typeface="Times Roman"/>
                        </a:rPr>
                        <a:t>54.10%</a:t>
                      </a:r>
                    </a:p>
                  </a:txBody>
                  <a:tcPr marL="12700" marR="12700" marT="12700" marB="12700" anchor="ctr" anchorCtr="0"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r>
            </a:tbl>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Model 3: Hybrid Hotel Recommendation System"/>
          <p:cNvSpPr txBox="1"/>
          <p:nvPr/>
        </p:nvSpPr>
        <p:spPr>
          <a:xfrm>
            <a:off x="2712127" y="151189"/>
            <a:ext cx="9944616" cy="5070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Model 3: Hybrid Hotel Recommendation System</a:t>
            </a:r>
          </a:p>
        </p:txBody>
      </p:sp>
      <p:sp>
        <p:nvSpPr>
          <p:cNvPr id="214" name="Text 2"/>
          <p:cNvSpPr txBox="1"/>
          <p:nvPr/>
        </p:nvSpPr>
        <p:spPr>
          <a:xfrm>
            <a:off x="739475" y="6861903"/>
            <a:ext cx="13433029" cy="1160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100"/>
              </a:lnSpc>
              <a:defRPr i="1" sz="2100">
                <a:solidFill>
                  <a:srgbClr val="3D3838"/>
                </a:solidFill>
                <a:latin typeface="Times New Roman"/>
                <a:ea typeface="Times New Roman"/>
                <a:cs typeface="Times New Roman"/>
                <a:sym typeface="Times New Roman"/>
              </a:defRPr>
            </a:lvl1pPr>
          </a:lstStyle>
          <a:p>
            <a:pPr/>
            <a:r>
              <a:t>Our Hotel Recommender is a hybrid model. It uses SVD for return users to suggest hotels based on latent ratings. If a user is new, it switches to a content-based fallback using destination city matches to resolve the cold-start problem. The dashboard clearly labels which algorithm recommended which hotel.</a:t>
            </a:r>
          </a:p>
        </p:txBody>
      </p:sp>
      <p:sp>
        <p:nvSpPr>
          <p:cNvPr id="215" name="Recommend the Top 5 hotels to a traveler based on destination and historical preferences.…"/>
          <p:cNvSpPr txBox="1"/>
          <p:nvPr/>
        </p:nvSpPr>
        <p:spPr>
          <a:xfrm>
            <a:off x="282137" y="835960"/>
            <a:ext cx="14066127" cy="657121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700">
                <a:latin typeface="Times New Roman"/>
                <a:ea typeface="Times New Roman"/>
                <a:cs typeface="Times New Roman"/>
                <a:sym typeface="Times New Roman"/>
              </a:defRPr>
            </a:pPr>
            <a:r>
              <a:t>Recommend the </a:t>
            </a:r>
            <a:r>
              <a:rPr b="1"/>
              <a:t>Top 5 hotels</a:t>
            </a:r>
            <a:r>
              <a:t> to a traveler based on destination and historical preferences.</a:t>
            </a:r>
          </a:p>
          <a:p>
            <a:pPr defTabSz="457200">
              <a:spcBef>
                <a:spcPts val="1400"/>
              </a:spcBef>
              <a:defRPr b="1" sz="1700" u="sng">
                <a:latin typeface="Times New Roman"/>
                <a:ea typeface="Times New Roman"/>
                <a:cs typeface="Times New Roman"/>
                <a:sym typeface="Times New Roman"/>
              </a:defRPr>
            </a:pPr>
            <a:r>
              <a:t>Three Recommendation Approaches</a:t>
            </a:r>
          </a:p>
          <a:p>
            <a:pPr defTabSz="457200">
              <a:spcBef>
                <a:spcPts val="1400"/>
              </a:spcBef>
              <a:defRPr b="1" sz="1700">
                <a:latin typeface="Times Roman"/>
                <a:ea typeface="Times Roman"/>
                <a:cs typeface="Times Roman"/>
                <a:sym typeface="Times Roman"/>
              </a:defRPr>
            </a:pPr>
            <a:r>
              <a:t>1. Popularity-Based :- </a:t>
            </a:r>
            <a:r>
              <a:rPr b="0"/>
              <a:t>Recommends hotels based on overall popularity/rating.</a:t>
            </a:r>
            <a:endParaRPr b="0"/>
          </a:p>
          <a:p>
            <a:pPr defTabSz="457200">
              <a:spcBef>
                <a:spcPts val="1200"/>
              </a:spcBef>
              <a:defRPr sz="1700">
                <a:latin typeface="Times Roman"/>
                <a:ea typeface="Times Roman"/>
                <a:cs typeface="Times Roman"/>
                <a:sym typeface="Times Roman"/>
              </a:defRPr>
            </a:pPr>
            <a:r>
              <a:t>Advantage : Simple &amp; Fast</a:t>
            </a:r>
          </a:p>
          <a:p>
            <a:pPr defTabSz="457200">
              <a:spcBef>
                <a:spcPts val="1200"/>
              </a:spcBef>
              <a:defRPr sz="1700">
                <a:latin typeface="Times Roman"/>
                <a:ea typeface="Times Roman"/>
                <a:cs typeface="Times Roman"/>
                <a:sym typeface="Times Roman"/>
              </a:defRPr>
            </a:pPr>
            <a:r>
              <a:t>Limitation : Same recommendations for many users &amp; Little personalization</a:t>
            </a:r>
          </a:p>
          <a:p>
            <a:pPr defTabSz="457200">
              <a:spcBef>
                <a:spcPts val="1400"/>
              </a:spcBef>
              <a:defRPr b="1" sz="1700">
                <a:latin typeface="Times Roman"/>
                <a:ea typeface="Times Roman"/>
                <a:cs typeface="Times Roman"/>
                <a:sym typeface="Times Roman"/>
              </a:defRPr>
            </a:pPr>
            <a:r>
              <a:t>2. Content-Based Filtering :- </a:t>
            </a:r>
            <a:r>
              <a:rPr b="0"/>
              <a:t>Uses Cosine Similarity between hotel/destination characteristics.</a:t>
            </a:r>
            <a:endParaRPr b="0"/>
          </a:p>
          <a:p>
            <a:pPr defTabSz="457200">
              <a:spcBef>
                <a:spcPts val="1200"/>
              </a:spcBef>
              <a:defRPr sz="1700">
                <a:latin typeface="Times Roman"/>
                <a:ea typeface="Times Roman"/>
                <a:cs typeface="Times Roman"/>
                <a:sym typeface="Times Roman"/>
              </a:defRPr>
            </a:pPr>
            <a:r>
              <a:t>Advantage : Can recommend based on item similarity &amp; Useful when user history is limited</a:t>
            </a:r>
          </a:p>
          <a:p>
            <a:pPr defTabSz="457200">
              <a:spcBef>
                <a:spcPts val="1200"/>
              </a:spcBef>
              <a:defRPr sz="1700">
                <a:latin typeface="Times Roman"/>
                <a:ea typeface="Times Roman"/>
                <a:cs typeface="Times Roman"/>
                <a:sym typeface="Times Roman"/>
              </a:defRPr>
            </a:pPr>
            <a:r>
              <a:t>Limitation : Less personalized without rich user information</a:t>
            </a:r>
          </a:p>
          <a:p>
            <a:pPr defTabSz="457200">
              <a:spcBef>
                <a:spcPts val="1400"/>
              </a:spcBef>
              <a:defRPr b="1" sz="1700">
                <a:latin typeface="Times Roman"/>
                <a:ea typeface="Times Roman"/>
                <a:cs typeface="Times Roman"/>
                <a:sym typeface="Times Roman"/>
              </a:defRPr>
            </a:pPr>
            <a:r>
              <a:t>3. Collaborative Filtering — SVD :- </a:t>
            </a:r>
            <a:r>
              <a:rPr b="0"/>
              <a:t>Uses the </a:t>
            </a:r>
            <a:r>
              <a:t>user-hotel rating matrix</a:t>
            </a:r>
            <a:r>
              <a:rPr b="0"/>
              <a:t>.</a:t>
            </a:r>
            <a:endParaRPr b="0"/>
          </a:p>
          <a:p>
            <a:pPr defTabSz="457200">
              <a:spcBef>
                <a:spcPts val="1200"/>
              </a:spcBef>
              <a:defRPr sz="1700">
                <a:latin typeface="Times Roman"/>
                <a:ea typeface="Times Roman"/>
                <a:cs typeface="Times Roman"/>
                <a:sym typeface="Times Roman"/>
              </a:defRPr>
            </a:pPr>
            <a:r>
              <a:t>SVD decomposes the rating matrix into latent factors : User-Hotel Rating Matrix -&gt; SVD -&gt; Latent User Preferences + Latent Hotel Characteristics -&gt; Predicted Ratings -&gt; Top 5 Recommendations</a:t>
            </a:r>
          </a:p>
          <a:p>
            <a:pPr defTabSz="457200">
              <a:spcBef>
                <a:spcPts val="1400"/>
              </a:spcBef>
              <a:defRPr b="1" sz="1700">
                <a:latin typeface="Times Roman"/>
                <a:ea typeface="Times Roman"/>
                <a:cs typeface="Times Roman"/>
                <a:sym typeface="Times Roman"/>
              </a:defRPr>
            </a:pPr>
            <a:r>
              <a:t>Final Hybrid Strategy : </a:t>
            </a:r>
            <a:r>
              <a:rPr b="0"/>
              <a:t>Returning User -&gt; Historical Ratings Available? -&gt; (YES) SVD Collaborative Filtering -&gt; Personalized Hotels -&gt; New User / Cold Start -&gt; Content-Based Similarity -&gt; Destination-Based Recommendations</a:t>
            </a:r>
            <a:endParaRPr b="0"/>
          </a:p>
          <a:p>
            <a:pPr defTabSz="457200">
              <a:spcBef>
                <a:spcPts val="1400"/>
              </a:spcBef>
              <a:defRPr b="1" sz="1700">
                <a:latin typeface="Times Roman"/>
                <a:ea typeface="Times Roman"/>
                <a:cs typeface="Times Roman"/>
                <a:sym typeface="Times Roman"/>
              </a:defRPr>
            </a:pPr>
            <a:r>
              <a:rPr b="0"/>
              <a:t>Final SVD Parameters :- n_factors</a:t>
            </a:r>
            <a:r>
              <a:t> = 50 , lr_all = 0.005 , reg_all = 0.02</a:t>
            </a:r>
          </a:p>
          <a:p>
            <a:pPr defTabSz="457200">
              <a:spcBef>
                <a:spcPts val="1400"/>
              </a:spcBef>
              <a:defRPr b="1" sz="1700">
                <a:latin typeface="Times Roman"/>
                <a:ea typeface="Times Roman"/>
                <a:cs typeface="Times Roman"/>
                <a:sym typeface="Times Roman"/>
              </a:defRPr>
            </a:pPr>
            <a:r>
              <a:t>Main Advantage :-</a:t>
            </a:r>
            <a:r>
              <a:rPr b="0"/>
              <a:t> The hybrid architecture solves the cold-start problem while retaining personalization for users with historical interactions</a:t>
            </a:r>
            <a:endParaRPr b="0"/>
          </a:p>
          <a:p>
            <a:pPr marL="457200" indent="-457200" defTabSz="457200">
              <a:tabLst>
                <a:tab pos="139700" algn="l"/>
                <a:tab pos="457200" algn="l"/>
              </a:tabLst>
              <a:defRPr sz="1700">
                <a:latin typeface="Times Roman"/>
                <a:ea typeface="Times Roman"/>
                <a:cs typeface="Times Roman"/>
                <a:sym typeface="Times Roman"/>
              </a:defRPr>
            </a:pPr>
          </a:p>
        </p:txBody>
      </p:sp>
      <p:graphicFrame>
        <p:nvGraphicFramePr>
          <p:cNvPr id="216" name="Table 1"/>
          <p:cNvGraphicFramePr/>
          <p:nvPr/>
        </p:nvGraphicFramePr>
        <p:xfrm>
          <a:off x="10451774" y="1323626"/>
          <a:ext cx="3569113" cy="193647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307549"/>
                <a:gridCol w="638602"/>
                <a:gridCol w="610260"/>
              </a:tblGrid>
              <a:tr h="524910">
                <a:tc>
                  <a:txBody>
                    <a:bodyPr/>
                    <a:lstStyle/>
                    <a:p>
                      <a:pPr algn="ctr" defTabSz="457200">
                        <a:defRPr sz="1800"/>
                      </a:pPr>
                      <a:r>
                        <a:rPr b="1" sz="1200">
                          <a:latin typeface="Times Roman"/>
                          <a:ea typeface="Times Roman"/>
                          <a:cs typeface="Times Roman"/>
                          <a:sym typeface="Times Roman"/>
                        </a:rPr>
                        <a:t>Approach</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200">
                          <a:latin typeface="Times Roman"/>
                          <a:ea typeface="Times Roman"/>
                          <a:cs typeface="Times Roman"/>
                          <a:sym typeface="Times Roman"/>
                        </a:rPr>
                        <a:t>RMSE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200">
                          <a:latin typeface="Times Roman"/>
                          <a:ea typeface="Times Roman"/>
                          <a:cs typeface="Times Roman"/>
                          <a:sym typeface="Times Roman"/>
                        </a:rPr>
                        <a:t>MAE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8986">
                <a:tc>
                  <a:txBody>
                    <a:bodyPr/>
                    <a:lstStyle/>
                    <a:p>
                      <a:pPr algn="ctr" defTabSz="457200">
                        <a:defRPr sz="1800"/>
                      </a:pPr>
                      <a:r>
                        <a:rPr sz="1200">
                          <a:latin typeface="Times Roman"/>
                          <a:ea typeface="Times Roman"/>
                          <a:cs typeface="Times Roman"/>
                          <a:sym typeface="Times Roman"/>
                        </a:rPr>
                        <a:t>Popularity Baseline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0.8950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0.6210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8986">
                <a:tc>
                  <a:txBody>
                    <a:bodyPr/>
                    <a:lstStyle/>
                    <a:p>
                      <a:pPr algn="ctr" defTabSz="457200">
                        <a:defRPr sz="1800"/>
                      </a:pPr>
                      <a:r>
                        <a:rPr sz="1200">
                          <a:latin typeface="Times Roman"/>
                          <a:ea typeface="Times Roman"/>
                          <a:cs typeface="Times Roman"/>
                          <a:sym typeface="Times Roman"/>
                        </a:rPr>
                        <a:t>Cosine Content-Based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0.6120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0.4530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8986">
                <a:tc>
                  <a:txBody>
                    <a:bodyPr/>
                    <a:lstStyle/>
                    <a:p>
                      <a:pPr algn="ctr" defTabSz="457200">
                        <a:defRPr sz="1800"/>
                      </a:pPr>
                      <a:r>
                        <a:rPr sz="1200">
                          <a:latin typeface="Times Roman"/>
                          <a:ea typeface="Times Roman"/>
                          <a:cs typeface="Times Roman"/>
                          <a:sym typeface="Times Roman"/>
                        </a:rPr>
                        <a:t>SVD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0.5210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sz="1200">
                          <a:latin typeface="Times Roman"/>
                          <a:ea typeface="Times Roman"/>
                          <a:cs typeface="Times Roman"/>
                          <a:sym typeface="Times Roman"/>
                        </a:rPr>
                        <a:t>0.3890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524910">
                <a:tc>
                  <a:txBody>
                    <a:bodyPr/>
                    <a:lstStyle/>
                    <a:p>
                      <a:pPr algn="ctr" defTabSz="457200">
                        <a:defRPr sz="1800"/>
                      </a:pPr>
                      <a:r>
                        <a:rPr b="1" sz="1200">
                          <a:latin typeface="Times Roman"/>
                          <a:ea typeface="Times Roman"/>
                          <a:cs typeface="Times Roman"/>
                          <a:sym typeface="Times Roman"/>
                        </a:rPr>
                        <a:t>Hybrid Production Model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200">
                          <a:latin typeface="Times Roman"/>
                          <a:ea typeface="Times Roman"/>
                          <a:cs typeface="Times Roman"/>
                          <a:sym typeface="Times Roman"/>
                        </a:rPr>
                        <a:t>0.4843</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457200">
                        <a:defRPr sz="1800"/>
                      </a:pPr>
                      <a:r>
                        <a:rPr b="1" sz="1200">
                          <a:latin typeface="Times Roman"/>
                          <a:ea typeface="Times Roman"/>
                          <a:cs typeface="Times Roman"/>
                          <a:sym typeface="Times Roman"/>
                        </a:rPr>
                        <a:t>0.3550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MLOps Components - Production CI/CD &amp; Drift Monitoring"/>
          <p:cNvSpPr txBox="1"/>
          <p:nvPr/>
        </p:nvSpPr>
        <p:spPr>
          <a:xfrm>
            <a:off x="2179183" y="85509"/>
            <a:ext cx="11515676" cy="5070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MLOps Components - Production CI/CD &amp; Drift Monitoring</a:t>
            </a:r>
          </a:p>
        </p:txBody>
      </p:sp>
      <p:sp>
        <p:nvSpPr>
          <p:cNvPr id="219" name="Text 1"/>
          <p:cNvSpPr txBox="1"/>
          <p:nvPr/>
        </p:nvSpPr>
        <p:spPr>
          <a:xfrm>
            <a:off x="101187" y="787106"/>
            <a:ext cx="14428026" cy="69565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8" marL="342899" indent="-342899">
              <a:lnSpc>
                <a:spcPct val="120000"/>
              </a:lnSpc>
              <a:buSzPct val="100000"/>
              <a:buChar char="•"/>
              <a:defRPr sz="2000">
                <a:latin typeface="Times New Roman"/>
                <a:ea typeface="Times New Roman"/>
                <a:cs typeface="Times New Roman"/>
                <a:sym typeface="Times New Roman"/>
              </a:defRPr>
            </a:pPr>
            <a:r>
              <a:rPr b="1"/>
              <a:t>Data Validation :-</a:t>
            </a:r>
            <a:r>
              <a:t> </a:t>
            </a:r>
            <a:r>
              <a:rPr i="1"/>
              <a:t>validate.py </a:t>
            </a:r>
            <a:r>
              <a:rPr>
                <a:latin typeface="Times Roman"/>
                <a:ea typeface="Times Roman"/>
                <a:cs typeface="Times Roman"/>
                <a:sym typeface="Times Roman"/>
              </a:rPr>
              <a:t>checks : </a:t>
            </a:r>
            <a:r>
              <a:t>Schema, Data types, Missing values, Value ranges, Expected columns, Data consistency</a:t>
            </a:r>
          </a:p>
          <a:p>
            <a:pPr lvl="8" indent="1828800">
              <a:lnSpc>
                <a:spcPct val="120000"/>
              </a:lnSpc>
              <a:defRPr sz="2000">
                <a:latin typeface="Times New Roman"/>
                <a:ea typeface="Times New Roman"/>
                <a:cs typeface="Times New Roman"/>
                <a:sym typeface="Times New Roman"/>
              </a:defRPr>
            </a:pPr>
            <a:r>
              <a:t> Prevent bad data from entering the ML pipeline.</a:t>
            </a:r>
          </a:p>
          <a:p>
            <a:pPr lvl="8" marL="342899" indent="-342899">
              <a:lnSpc>
                <a:spcPct val="120000"/>
              </a:lnSpc>
              <a:buSzPct val="100000"/>
              <a:buChar char="•"/>
              <a:defRPr b="1" sz="2000">
                <a:latin typeface="Times New Roman"/>
                <a:ea typeface="Times New Roman"/>
                <a:cs typeface="Times New Roman"/>
                <a:sym typeface="Times New Roman"/>
              </a:defRPr>
            </a:pPr>
            <a:r>
              <a:t>Data Preprocessing :- </a:t>
            </a:r>
            <a:r>
              <a:rPr b="0" i="1"/>
              <a:t>preprocess.py</a:t>
            </a:r>
            <a:r>
              <a:rPr b="0" i="1">
                <a:latin typeface="Times Roman"/>
                <a:ea typeface="Times Roman"/>
                <a:cs typeface="Times Roman"/>
                <a:sym typeface="Times Roman"/>
              </a:rPr>
              <a:t>  </a:t>
            </a:r>
            <a:r>
              <a:rPr b="0"/>
              <a:t>handles missing values, Cleans data, Removes duplicates, Converts categorical information, Prepares consistent training data.</a:t>
            </a:r>
          </a:p>
          <a:p>
            <a:pPr lvl="8" marL="342899" indent="-342899">
              <a:lnSpc>
                <a:spcPct val="120000"/>
              </a:lnSpc>
              <a:buSzPct val="100000"/>
              <a:buChar char="•"/>
              <a:defRPr sz="2000">
                <a:latin typeface="Times New Roman"/>
                <a:ea typeface="Times New Roman"/>
                <a:cs typeface="Times New Roman"/>
                <a:sym typeface="Times New Roman"/>
              </a:defRPr>
            </a:pPr>
            <a:r>
              <a:rPr b="1"/>
              <a:t>Feature Engineering :-</a:t>
            </a:r>
            <a:r>
              <a:t> </a:t>
            </a:r>
            <a:r>
              <a:rPr i="1"/>
              <a:t>feature_engineering.py</a:t>
            </a:r>
            <a:r>
              <a:t> derives useful features such as  Engagement level, Delay ratio, Absolute delay, Click intensity, Activity score.</a:t>
            </a:r>
          </a:p>
          <a:p>
            <a:pPr lvl="8" marL="342899" indent="-342899">
              <a:lnSpc>
                <a:spcPct val="120000"/>
              </a:lnSpc>
              <a:buSzPct val="100000"/>
              <a:buChar char="•"/>
              <a:defRPr sz="2000">
                <a:latin typeface="Times New Roman"/>
                <a:ea typeface="Times New Roman"/>
                <a:cs typeface="Times New Roman"/>
                <a:sym typeface="Times New Roman"/>
              </a:defRPr>
            </a:pPr>
            <a:r>
              <a:rPr b="1"/>
              <a:t>Feature Store :- </a:t>
            </a:r>
            <a:r>
              <a:t>Stores processed and engineered features so that training pipelines can consume consistent features.</a:t>
            </a:r>
          </a:p>
          <a:p>
            <a:pPr lvl="8" marL="342899" indent="-342899">
              <a:lnSpc>
                <a:spcPct val="120000"/>
              </a:lnSpc>
              <a:buSzPct val="100000"/>
              <a:buChar char="•"/>
              <a:defRPr sz="2000">
                <a:latin typeface="Times New Roman"/>
                <a:ea typeface="Times New Roman"/>
                <a:cs typeface="Times New Roman"/>
                <a:sym typeface="Times New Roman"/>
              </a:defRPr>
            </a:pPr>
            <a:r>
              <a:rPr b="1"/>
              <a:t>MLflow :-</a:t>
            </a:r>
            <a:r>
              <a:t> Experiment tracking, Parameter logging, Metric logging, Model artifacts, Model registry, Production model management.</a:t>
            </a:r>
          </a:p>
          <a:p>
            <a:pPr lvl="8" marL="342899" indent="-342899">
              <a:lnSpc>
                <a:spcPct val="120000"/>
              </a:lnSpc>
              <a:buSzPct val="100000"/>
              <a:buChar char="•"/>
              <a:defRPr sz="2000">
                <a:latin typeface="Times New Roman"/>
                <a:ea typeface="Times New Roman"/>
                <a:cs typeface="Times New Roman"/>
                <a:sym typeface="Times New Roman"/>
              </a:defRPr>
            </a:pPr>
            <a:r>
              <a:rPr b="1"/>
              <a:t>FastAPI :- </a:t>
            </a:r>
            <a:r>
              <a:t>Acts as the ML inference gateway. </a:t>
            </a:r>
          </a:p>
          <a:p>
            <a:pPr lvl="8" indent="1828800">
              <a:lnSpc>
                <a:spcPct val="120000"/>
              </a:lnSpc>
              <a:defRPr sz="2000">
                <a:latin typeface="Times New Roman"/>
                <a:ea typeface="Times New Roman"/>
                <a:cs typeface="Times New Roman"/>
                <a:sym typeface="Times New Roman"/>
              </a:defRPr>
            </a:pPr>
            <a:r>
              <a:t>Receive prediction requests, Validate payloads using Pydantic, Authenticate requests, Load production models, Return predictions, Generate SHAP explanations</a:t>
            </a:r>
          </a:p>
          <a:p>
            <a:pPr lvl="8" marL="342899" indent="-342899">
              <a:lnSpc>
                <a:spcPct val="120000"/>
              </a:lnSpc>
              <a:buSzPct val="100000"/>
              <a:buChar char="•"/>
              <a:defRPr sz="2000">
                <a:latin typeface="Times New Roman"/>
                <a:ea typeface="Times New Roman"/>
                <a:cs typeface="Times New Roman"/>
                <a:sym typeface="Times New Roman"/>
              </a:defRPr>
            </a:pPr>
            <a:r>
              <a:rPr b="1"/>
              <a:t>Automated Testing :-</a:t>
            </a:r>
            <a:r>
              <a:t> Two major test layers : Unit Tests includes Data validation, Preprocessing, Feature logic and Integration Tests includes API endpoints, Authentication, Prediction responses.</a:t>
            </a:r>
          </a:p>
          <a:p>
            <a:pPr lvl="8" marL="342899" indent="-342899">
              <a:lnSpc>
                <a:spcPct val="120000"/>
              </a:lnSpc>
              <a:buSzPct val="100000"/>
              <a:buChar char="•"/>
              <a:defRPr sz="2000">
                <a:latin typeface="Times New Roman"/>
                <a:ea typeface="Times New Roman"/>
                <a:cs typeface="Times New Roman"/>
                <a:sym typeface="Times New Roman"/>
              </a:defRPr>
            </a:pPr>
            <a:r>
              <a:rPr b="1"/>
              <a:t>CI/CD :- </a:t>
            </a:r>
            <a:r>
              <a:t>GitHub Actions automates Code quality checks, Formatting/linting, Unit tests, Integration tests, Docker builds, Container publishing &amp; Deployment.</a:t>
            </a:r>
          </a:p>
          <a:p>
            <a:pPr lvl="8" marL="342899" indent="-342899">
              <a:lnSpc>
                <a:spcPct val="120000"/>
              </a:lnSpc>
              <a:buSzPct val="100000"/>
              <a:buChar char="•"/>
              <a:defRPr sz="2000">
                <a:latin typeface="Times New Roman"/>
                <a:ea typeface="Times New Roman"/>
                <a:cs typeface="Times New Roman"/>
                <a:sym typeface="Times New Roman"/>
              </a:defRPr>
            </a:pPr>
            <a:r>
              <a:rPr b="1"/>
              <a:t>Docker :- </a:t>
            </a:r>
            <a:r>
              <a:t>Containerizes FastAPI backend, Streamlit dashboard , Supporting services.</a:t>
            </a:r>
          </a:p>
          <a:p>
            <a:pPr lvl="8" marL="342899" indent="-342899">
              <a:lnSpc>
                <a:spcPct val="120000"/>
              </a:lnSpc>
              <a:buSzPct val="100000"/>
              <a:buChar char="•"/>
              <a:defRPr sz="2000">
                <a:latin typeface="Times New Roman"/>
                <a:ea typeface="Times New Roman"/>
                <a:cs typeface="Times New Roman"/>
                <a:sym typeface="Times New Roman"/>
              </a:defRPr>
            </a:pPr>
            <a:r>
              <a:rPr b="1"/>
              <a:t>Kubernetes :- </a:t>
            </a:r>
            <a:r>
              <a:t>Provides production orchestration with Replicated pods, Health probes, Resource limits, Services, LoadBalancer, PersistentVolumeClaim for MLflow.</a:t>
            </a:r>
          </a:p>
          <a:p>
            <a:pPr lvl="8" marL="342899" indent="-342899">
              <a:lnSpc>
                <a:spcPct val="120000"/>
              </a:lnSpc>
              <a:buSzPct val="100000"/>
              <a:buChar char="•"/>
              <a:defRPr sz="2000">
                <a:latin typeface="Times New Roman"/>
                <a:ea typeface="Times New Roman"/>
                <a:cs typeface="Times New Roman"/>
                <a:sym typeface="Times New Roman"/>
              </a:defRPr>
            </a:pPr>
            <a:r>
              <a:rPr b="1"/>
              <a:t>Monitoring :-</a:t>
            </a:r>
            <a:r>
              <a:t> Prometheus-based telemetry tracks API latency, Request rates, HTTP status codes. Model input monitoring uses PSI &amp; KS Test. Drift Threshold : A </a:t>
            </a:r>
            <a:r>
              <a:rPr b="1"/>
              <a:t>PSI &gt; 0.25</a:t>
            </a:r>
            <a:r>
              <a:t> is treated as an active drift warning in the dashboard.</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Dashboard : Interactive Voyage Analytics Dashboard"/>
          <p:cNvSpPr txBox="1"/>
          <p:nvPr/>
        </p:nvSpPr>
        <p:spPr>
          <a:xfrm>
            <a:off x="2439457" y="93372"/>
            <a:ext cx="10654119" cy="5070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Dashboard : Interactive Voyage Analytics Dashboard</a:t>
            </a:r>
          </a:p>
        </p:txBody>
      </p:sp>
      <p:sp>
        <p:nvSpPr>
          <p:cNvPr id="222" name="Text 2"/>
          <p:cNvSpPr txBox="1"/>
          <p:nvPr/>
        </p:nvSpPr>
        <p:spPr>
          <a:xfrm>
            <a:off x="223246" y="800626"/>
            <a:ext cx="14183909" cy="71082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200"/>
              </a:spcBef>
              <a:defRPr>
                <a:latin typeface="Times Roman"/>
                <a:ea typeface="Times Roman"/>
                <a:cs typeface="Times Roman"/>
                <a:sym typeface="Times Roman"/>
              </a:defRPr>
            </a:pPr>
            <a:r>
              <a:t>The public project is deployed through </a:t>
            </a:r>
            <a:r>
              <a:rPr b="1"/>
              <a:t>Streamlit</a:t>
            </a:r>
            <a:r>
              <a:t>, providing an interactive interface for exploring the complete platform.</a:t>
            </a:r>
          </a:p>
          <a:p>
            <a:pPr defTabSz="457200">
              <a:spcBef>
                <a:spcPts val="1400"/>
              </a:spcBef>
              <a:defRPr b="1" u="sng">
                <a:latin typeface="Times Roman"/>
                <a:ea typeface="Times Roman"/>
                <a:cs typeface="Times Roman"/>
                <a:sym typeface="Times Roman"/>
              </a:defRPr>
            </a:pPr>
            <a:r>
              <a:t>Dashboard Modules</a:t>
            </a:r>
          </a:p>
          <a:p>
            <a:pPr defTabSz="457200">
              <a:spcBef>
                <a:spcPts val="1500"/>
              </a:spcBef>
              <a:defRPr>
                <a:latin typeface="Times Roman"/>
                <a:ea typeface="Times Roman"/>
                <a:cs typeface="Times Roman"/>
                <a:sym typeface="Times Roman"/>
              </a:defRPr>
            </a:pPr>
            <a:r>
              <a:rPr b="1"/>
              <a:t>1. Overview :- </a:t>
            </a:r>
            <a:r>
              <a:t>Overall system status, Key performance indicators, Project summary</a:t>
            </a:r>
          </a:p>
          <a:p>
            <a:pPr defTabSz="457200">
              <a:spcBef>
                <a:spcPts val="1500"/>
              </a:spcBef>
              <a:defRPr>
                <a:latin typeface="Times Roman"/>
                <a:ea typeface="Times Roman"/>
                <a:cs typeface="Times Roman"/>
                <a:sym typeface="Times Roman"/>
              </a:defRPr>
            </a:pPr>
            <a:r>
              <a:rPr b="1"/>
              <a:t>2. Travel Journey :-</a:t>
            </a:r>
            <a:r>
              <a:t> Integrated travel workflow, Flight-related analysis, Traveler information</a:t>
            </a:r>
          </a:p>
          <a:p>
            <a:pPr defTabSz="457200">
              <a:spcBef>
                <a:spcPts val="1500"/>
              </a:spcBef>
              <a:defRPr>
                <a:latin typeface="Times Roman"/>
                <a:ea typeface="Times Roman"/>
                <a:cs typeface="Times Roman"/>
                <a:sym typeface="Times Roman"/>
              </a:defRPr>
            </a:pPr>
            <a:r>
              <a:rPr b="1"/>
              <a:t>3. EDA :-</a:t>
            </a:r>
            <a:r>
              <a:t> Flight data analysis, Hotel analysis, User behavior analysis</a:t>
            </a:r>
          </a:p>
          <a:p>
            <a:pPr defTabSz="457200">
              <a:spcBef>
                <a:spcPts val="1500"/>
              </a:spcBef>
              <a:defRPr>
                <a:latin typeface="Times Roman"/>
                <a:ea typeface="Times Roman"/>
                <a:cs typeface="Times Roman"/>
                <a:sym typeface="Times Roman"/>
              </a:defRPr>
            </a:pPr>
            <a:r>
              <a:rPr b="1"/>
              <a:t>4. Flight Price Prediction :-</a:t>
            </a:r>
            <a:r>
              <a:t> User selects Departure airport/city, Arrival airport/city, Travel class, Agency, Travel date. System returns Predicted price, Prediction interval, Feature importance</a:t>
            </a:r>
          </a:p>
          <a:p>
            <a:pPr lvl="1" indent="228600" defTabSz="457200">
              <a:spcBef>
                <a:spcPts val="1400"/>
              </a:spcBef>
              <a:defRPr>
                <a:latin typeface="Times Roman"/>
                <a:ea typeface="Times Roman"/>
                <a:cs typeface="Times Roman"/>
                <a:sym typeface="Times Roman"/>
              </a:defRPr>
            </a:pPr>
            <a:r>
              <a:t>Human-Readable Routing Enhancement :- Instead of asking users to manually enter encoded airport IDs:</a:t>
            </a:r>
          </a:p>
          <a:p>
            <a:pPr lvl="1" indent="228600" defTabSz="457200">
              <a:spcBef>
                <a:spcPts val="1200"/>
              </a:spcBef>
              <a:defRPr>
                <a:latin typeface="Times Roman"/>
                <a:ea typeface="Times Roman"/>
                <a:cs typeface="Times Roman"/>
                <a:sym typeface="Times Roman"/>
              </a:defRPr>
            </a:pPr>
            <a:r>
              <a:t>Old : Airport ID = 0–30</a:t>
            </a:r>
          </a:p>
          <a:p>
            <a:pPr lvl="1" indent="228600" defTabSz="457200">
              <a:spcBef>
                <a:spcPts val="1200"/>
              </a:spcBef>
              <a:defRPr>
                <a:latin typeface="Times Roman"/>
                <a:ea typeface="Times Roman"/>
                <a:cs typeface="Times Roman"/>
                <a:sym typeface="Times Roman"/>
              </a:defRPr>
            </a:pPr>
            <a:r>
              <a:t>New : São Paulo (GRU) , Rio de Janeiro (GIG), Belo Horizonte (CNF)</a:t>
            </a:r>
          </a:p>
          <a:p>
            <a:pPr lvl="1" indent="228600" defTabSz="457200">
              <a:spcBef>
                <a:spcPts val="1200"/>
              </a:spcBef>
              <a:defRPr>
                <a:latin typeface="Times Roman"/>
                <a:ea typeface="Times Roman"/>
                <a:cs typeface="Times Roman"/>
                <a:sym typeface="Times Roman"/>
              </a:defRPr>
            </a:pPr>
            <a:r>
              <a:t>The dashboard automatically Maps city/airport → encoded ID, Looks up route distance, Looks up flight duration, Builds a valid model payload</a:t>
            </a:r>
          </a:p>
          <a:p>
            <a:pPr defTabSz="457200">
              <a:spcBef>
                <a:spcPts val="1400"/>
              </a:spcBef>
              <a:defRPr>
                <a:latin typeface="Times Roman"/>
                <a:ea typeface="Times Roman"/>
                <a:cs typeface="Times Roman"/>
                <a:sym typeface="Times Roman"/>
              </a:defRPr>
            </a:pPr>
            <a:r>
              <a:rPr b="1"/>
              <a:t>5. Gender Classifier :-</a:t>
            </a:r>
            <a:r>
              <a:t> Users provide traveler characteristics and receive Predicted demographic class, Supporting feature explanation, Traveler profile information</a:t>
            </a:r>
          </a:p>
          <a:p>
            <a:pPr defTabSz="457200">
              <a:spcBef>
                <a:spcPts val="1400"/>
              </a:spcBef>
              <a:defRPr>
                <a:latin typeface="Times Roman"/>
                <a:ea typeface="Times Roman"/>
                <a:cs typeface="Times Roman"/>
                <a:sym typeface="Times Roman"/>
              </a:defRPr>
            </a:pPr>
            <a:r>
              <a:rPr b="1"/>
              <a:t>6. Hotel Recommender :-</a:t>
            </a:r>
            <a:r>
              <a:t> Users provide travel/destination information and receive Top hotel recommendations, Predicted rating scores, Personalized recommendations where historical information exists, Content-based fallback for cold-start cases</a:t>
            </a:r>
          </a:p>
          <a:p>
            <a:pPr defTabSz="457200">
              <a:spcBef>
                <a:spcPts val="1400"/>
              </a:spcBef>
              <a:defRPr>
                <a:latin typeface="Times Roman"/>
                <a:ea typeface="Times Roman"/>
                <a:cs typeface="Times Roman"/>
                <a:sym typeface="Times Roman"/>
              </a:defRPr>
            </a:pPr>
            <a:r>
              <a:rPr b="1"/>
              <a:t>7. MLOps Pages :-</a:t>
            </a:r>
            <a:r>
              <a:t> Dashboard also exposes MLflow Summary, Experiment Tracking, Model Monitoring, Data Quality Center, ML Pipeline, Feature Engineering, Feature Store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4" name="Overview.png" descr="Overview.png"/>
          <p:cNvPicPr>
            <a:picLocks noChangeAspect="1"/>
          </p:cNvPicPr>
          <p:nvPr/>
        </p:nvPicPr>
        <p:blipFill>
          <a:blip r:embed="rId2">
            <a:extLst/>
          </a:blip>
          <a:stretch>
            <a:fillRect/>
          </a:stretch>
        </p:blipFill>
        <p:spPr>
          <a:xfrm>
            <a:off x="0" y="313508"/>
            <a:ext cx="14630400" cy="7602584"/>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6" name="Travel journey.png" descr="Travel journey.png"/>
          <p:cNvPicPr>
            <a:picLocks noChangeAspect="1"/>
          </p:cNvPicPr>
          <p:nvPr/>
        </p:nvPicPr>
        <p:blipFill>
          <a:blip r:embed="rId2">
            <a:extLst/>
          </a:blip>
          <a:stretch>
            <a:fillRect/>
          </a:stretch>
        </p:blipFill>
        <p:spPr>
          <a:xfrm>
            <a:off x="0" y="217714"/>
            <a:ext cx="14630400" cy="7794172"/>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8" name="EDA.png" descr="EDA.png"/>
          <p:cNvPicPr>
            <a:picLocks noChangeAspect="1"/>
          </p:cNvPicPr>
          <p:nvPr/>
        </p:nvPicPr>
        <p:blipFill>
          <a:blip r:embed="rId2">
            <a:extLst/>
          </a:blip>
          <a:stretch>
            <a:fillRect/>
          </a:stretch>
        </p:blipFill>
        <p:spPr>
          <a:xfrm>
            <a:off x="0" y="400594"/>
            <a:ext cx="14630400" cy="7428412"/>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0" name="mlflow summary.png" descr="mlflow summary.png"/>
          <p:cNvPicPr>
            <a:picLocks noChangeAspect="1"/>
          </p:cNvPicPr>
          <p:nvPr/>
        </p:nvPicPr>
        <p:blipFill>
          <a:blip r:embed="rId2">
            <a:extLst/>
          </a:blip>
          <a:stretch>
            <a:fillRect/>
          </a:stretch>
        </p:blipFill>
        <p:spPr>
          <a:xfrm>
            <a:off x="0" y="361405"/>
            <a:ext cx="14630400" cy="750679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2" name="ml pipeline.png" descr="ml pipeline.png"/>
          <p:cNvPicPr>
            <a:picLocks noChangeAspect="1"/>
          </p:cNvPicPr>
          <p:nvPr/>
        </p:nvPicPr>
        <p:blipFill>
          <a:blip r:embed="rId2">
            <a:extLst/>
          </a:blip>
          <a:stretch>
            <a:fillRect/>
          </a:stretch>
        </p:blipFill>
        <p:spPr>
          <a:xfrm>
            <a:off x="155007" y="0"/>
            <a:ext cx="14320386" cy="8229600"/>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Results &amp; Key Metrics"/>
          <p:cNvSpPr txBox="1"/>
          <p:nvPr/>
        </p:nvSpPr>
        <p:spPr>
          <a:xfrm>
            <a:off x="3776959" y="81639"/>
            <a:ext cx="6804125" cy="5070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Results &amp; Key Metrics</a:t>
            </a:r>
          </a:p>
        </p:txBody>
      </p:sp>
      <p:sp>
        <p:nvSpPr>
          <p:cNvPr id="235" name="Text 2"/>
          <p:cNvSpPr txBox="1"/>
          <p:nvPr/>
        </p:nvSpPr>
        <p:spPr>
          <a:xfrm>
            <a:off x="208836" y="585027"/>
            <a:ext cx="7729531" cy="73530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400"/>
              </a:spcBef>
              <a:defRPr b="1" sz="1600">
                <a:latin typeface="Times Roman"/>
                <a:ea typeface="Times Roman"/>
                <a:cs typeface="Times Roman"/>
                <a:sym typeface="Times Roman"/>
              </a:defRPr>
            </a:pPr>
            <a:r>
              <a:t>Model Performance : </a:t>
            </a:r>
          </a:p>
          <a:p>
            <a:pPr defTabSz="457200">
              <a:spcBef>
                <a:spcPts val="1400"/>
              </a:spcBef>
              <a:defRPr b="1" sz="1600">
                <a:latin typeface="Times Roman"/>
                <a:ea typeface="Times Roman"/>
                <a:cs typeface="Times Roman"/>
                <a:sym typeface="Times Roman"/>
              </a:defRPr>
            </a:pPr>
            <a:r>
              <a:t>1. Flight Price Prediction</a:t>
            </a:r>
          </a:p>
          <a:p>
            <a:pPr defTabSz="457200">
              <a:spcBef>
                <a:spcPts val="1200"/>
              </a:spcBef>
              <a:defRPr sz="1600">
                <a:latin typeface="Times Roman"/>
                <a:ea typeface="Times Roman"/>
                <a:cs typeface="Times Roman"/>
                <a:sym typeface="Times Roman"/>
              </a:defRPr>
            </a:pPr>
            <a:r>
              <a:rPr b="1"/>
              <a:t>Final Model :</a:t>
            </a:r>
            <a:r>
              <a:t> Tuned XGBoost Regressor</a:t>
            </a:r>
          </a:p>
          <a:p>
            <a:pPr defTabSz="457200">
              <a:spcBef>
                <a:spcPts val="1200"/>
              </a:spcBef>
              <a:defRPr b="1" sz="1600">
                <a:latin typeface="Times Roman"/>
                <a:ea typeface="Times Roman"/>
                <a:cs typeface="Times Roman"/>
                <a:sym typeface="Times Roman"/>
              </a:defRPr>
            </a:pPr>
            <a:r>
              <a:t>R² = 0.9973</a:t>
            </a:r>
            <a:endParaRPr b="0"/>
          </a:p>
          <a:p>
            <a:pPr defTabSz="457200">
              <a:spcBef>
                <a:spcPts val="1200"/>
              </a:spcBef>
              <a:defRPr sz="1600">
                <a:latin typeface="Times Roman"/>
                <a:ea typeface="Times Roman"/>
                <a:cs typeface="Times Roman"/>
                <a:sym typeface="Times Roman"/>
              </a:defRPr>
            </a:pPr>
            <a:r>
              <a:t>Baseline → Production improvement : Linear Regression     0.5623 , Ridge Regression      0.5619</a:t>
            </a:r>
          </a:p>
          <a:p>
            <a:pPr defTabSz="457200">
              <a:spcBef>
                <a:spcPts val="1200"/>
              </a:spcBef>
              <a:defRPr sz="1600">
                <a:latin typeface="Times Roman"/>
                <a:ea typeface="Times Roman"/>
                <a:cs typeface="Times Roman"/>
                <a:sym typeface="Times Roman"/>
              </a:defRPr>
            </a:pPr>
            <a:r>
              <a:t>, Random Forest         0.9971 , LightGBM              0.9961 , XGBoost               0.9948</a:t>
            </a:r>
          </a:p>
          <a:p>
            <a:pPr defTabSz="457200">
              <a:spcBef>
                <a:spcPts val="1200"/>
              </a:spcBef>
              <a:defRPr sz="1600">
                <a:latin typeface="Times Roman"/>
                <a:ea typeface="Times Roman"/>
                <a:cs typeface="Times Roman"/>
                <a:sym typeface="Times Roman"/>
              </a:defRPr>
            </a:pPr>
            <a:r>
              <a:t>&amp; Tuned XGBoost         0.9973  ← Final</a:t>
            </a:r>
          </a:p>
          <a:p>
            <a:pPr defTabSz="457200">
              <a:spcBef>
                <a:spcPts val="1400"/>
              </a:spcBef>
              <a:defRPr b="1" sz="1600">
                <a:latin typeface="Times Roman"/>
                <a:ea typeface="Times Roman"/>
                <a:cs typeface="Times Roman"/>
                <a:sym typeface="Times Roman"/>
              </a:defRPr>
            </a:pPr>
            <a:r>
              <a:t>2. Gender Classification</a:t>
            </a:r>
          </a:p>
          <a:p>
            <a:pPr defTabSz="457200">
              <a:spcBef>
                <a:spcPts val="1200"/>
              </a:spcBef>
              <a:defRPr sz="1600">
                <a:latin typeface="Times Roman"/>
                <a:ea typeface="Times Roman"/>
                <a:cs typeface="Times Roman"/>
                <a:sym typeface="Times Roman"/>
              </a:defRPr>
            </a:pPr>
            <a:r>
              <a:rPr b="1"/>
              <a:t>Final Model :</a:t>
            </a:r>
            <a:r>
              <a:t> Tuned Random Forest</a:t>
            </a:r>
          </a:p>
          <a:p>
            <a:pPr marL="457200" indent="-317500" defTabSz="457200">
              <a:buSzPct val="100000"/>
              <a:buFont typeface="Times Roman"/>
              <a:buChar char="•"/>
              <a:defRPr b="1" sz="1600">
                <a:latin typeface="Times Roman"/>
                <a:ea typeface="Times Roman"/>
                <a:cs typeface="Times Roman"/>
                <a:sym typeface="Times Roman"/>
              </a:defRPr>
            </a:pPr>
            <a:r>
              <a:t>Accuracy: 57.22%</a:t>
            </a:r>
            <a:endParaRPr b="0"/>
          </a:p>
          <a:p>
            <a:pPr marL="457200" indent="-317500" defTabSz="457200">
              <a:buSzPct val="100000"/>
              <a:buFont typeface="Times Roman"/>
              <a:buChar char="•"/>
              <a:defRPr b="1" sz="1600">
                <a:latin typeface="Times Roman"/>
                <a:ea typeface="Times Roman"/>
                <a:cs typeface="Times Roman"/>
                <a:sym typeface="Times Roman"/>
              </a:defRPr>
            </a:pPr>
            <a:r>
              <a:t>F1: 57.22%</a:t>
            </a:r>
            <a:endParaRPr b="0"/>
          </a:p>
          <a:p>
            <a:pPr marL="457200" indent="-317500" defTabSz="457200">
              <a:buSzPct val="100000"/>
              <a:buFont typeface="Times Roman"/>
              <a:buChar char="•"/>
              <a:defRPr b="1" sz="1600">
                <a:latin typeface="Times Roman"/>
                <a:ea typeface="Times Roman"/>
                <a:cs typeface="Times Roman"/>
                <a:sym typeface="Times Roman"/>
              </a:defRPr>
            </a:pPr>
            <a:r>
              <a:t>ROC-AUC: 58.63%</a:t>
            </a:r>
            <a:endParaRPr b="0"/>
          </a:p>
          <a:p>
            <a:pPr defTabSz="457200">
              <a:spcBef>
                <a:spcPts val="1200"/>
              </a:spcBef>
              <a:defRPr sz="1600">
                <a:latin typeface="Times Roman"/>
                <a:ea typeface="Times Roman"/>
                <a:cs typeface="Times Roman"/>
                <a:sym typeface="Times Roman"/>
              </a:defRPr>
            </a:pPr>
            <a:r>
              <a:t>Improvement over baseline Random Forest:</a:t>
            </a:r>
          </a:p>
          <a:p>
            <a:pPr defTabSz="457200">
              <a:spcBef>
                <a:spcPts val="1200"/>
              </a:spcBef>
              <a:defRPr b="1" sz="1600">
                <a:latin typeface="Times Roman"/>
                <a:ea typeface="Times Roman"/>
                <a:cs typeface="Times Roman"/>
                <a:sym typeface="Times Roman"/>
              </a:defRPr>
            </a:pPr>
            <a:r>
              <a:t>54.10% → 57.22% Accuracy</a:t>
            </a:r>
            <a:endParaRPr b="0"/>
          </a:p>
          <a:p>
            <a:pPr defTabSz="457200">
              <a:spcBef>
                <a:spcPts val="1400"/>
              </a:spcBef>
              <a:defRPr b="1" sz="1600">
                <a:latin typeface="Times Roman"/>
                <a:ea typeface="Times Roman"/>
                <a:cs typeface="Times Roman"/>
                <a:sym typeface="Times Roman"/>
              </a:defRPr>
            </a:pPr>
            <a:r>
              <a:t>3. Hotel Recommendation</a:t>
            </a:r>
          </a:p>
          <a:p>
            <a:pPr defTabSz="457200">
              <a:spcBef>
                <a:spcPts val="1200"/>
              </a:spcBef>
              <a:defRPr sz="1600">
                <a:latin typeface="Times Roman"/>
                <a:ea typeface="Times Roman"/>
                <a:cs typeface="Times Roman"/>
                <a:sym typeface="Times Roman"/>
              </a:defRPr>
            </a:pPr>
            <a:r>
              <a:rPr b="1"/>
              <a:t>Final Model:</a:t>
            </a:r>
            <a:r>
              <a:t> Hybrid SVD + Content-Based</a:t>
            </a:r>
          </a:p>
          <a:p>
            <a:pPr marL="457200" indent="-317500" defTabSz="457200">
              <a:buSzPct val="100000"/>
              <a:buFont typeface="Times Roman"/>
              <a:buChar char="•"/>
              <a:defRPr b="1" sz="1600">
                <a:latin typeface="Times Roman"/>
                <a:ea typeface="Times Roman"/>
                <a:cs typeface="Times Roman"/>
                <a:sym typeface="Times Roman"/>
              </a:defRPr>
            </a:pPr>
            <a:r>
              <a:t>RMSE: 0.4843</a:t>
            </a:r>
            <a:endParaRPr b="0"/>
          </a:p>
          <a:p>
            <a:pPr marL="457200" indent="-317500" defTabSz="457200">
              <a:buSzPct val="100000"/>
              <a:buFont typeface="Times Roman"/>
              <a:buChar char="•"/>
              <a:defRPr b="1" sz="1600">
                <a:latin typeface="Times Roman"/>
                <a:ea typeface="Times Roman"/>
                <a:cs typeface="Times Roman"/>
                <a:sym typeface="Times Roman"/>
              </a:defRPr>
            </a:pPr>
            <a:r>
              <a:t>MAE: 0.3550</a:t>
            </a:r>
            <a:endParaRPr b="0"/>
          </a:p>
          <a:p>
            <a:pPr defTabSz="457200">
              <a:spcBef>
                <a:spcPts val="1200"/>
              </a:spcBef>
              <a:defRPr sz="1600">
                <a:latin typeface="Times Roman"/>
                <a:ea typeface="Times Roman"/>
                <a:cs typeface="Times Roman"/>
                <a:sym typeface="Times Roman"/>
              </a:defRPr>
            </a:pPr>
            <a:r>
              <a:t>Improvement compared with popularity baseline:</a:t>
            </a:r>
          </a:p>
          <a:p>
            <a:pPr defTabSz="457200">
              <a:spcBef>
                <a:spcPts val="1200"/>
              </a:spcBef>
              <a:defRPr b="1" sz="1600">
                <a:latin typeface="Times Roman"/>
                <a:ea typeface="Times Roman"/>
                <a:cs typeface="Times Roman"/>
                <a:sym typeface="Times Roman"/>
              </a:defRPr>
            </a:pPr>
            <a:r>
              <a:t>RMSE: 0.8950 → 0.4843</a:t>
            </a:r>
          </a:p>
        </p:txBody>
      </p:sp>
      <p:sp>
        <p:nvSpPr>
          <p:cNvPr id="236" name="Text 2"/>
          <p:cNvSpPr txBox="1"/>
          <p:nvPr/>
        </p:nvSpPr>
        <p:spPr>
          <a:xfrm>
            <a:off x="7246265" y="983063"/>
            <a:ext cx="7514956" cy="65569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lnSpc>
                <a:spcPct val="120000"/>
              </a:lnSpc>
              <a:spcBef>
                <a:spcPts val="1400"/>
              </a:spcBef>
              <a:defRPr b="1" sz="2200">
                <a:latin typeface="Times Roman"/>
                <a:ea typeface="Times Roman"/>
                <a:cs typeface="Times Roman"/>
                <a:sym typeface="Times Roman"/>
              </a:defRPr>
            </a:pPr>
            <a:r>
              <a:t>MLOps Results</a:t>
            </a:r>
          </a:p>
          <a:p>
            <a:pPr defTabSz="457200">
              <a:lnSpc>
                <a:spcPct val="120000"/>
              </a:lnSpc>
              <a:spcBef>
                <a:spcPts val="1400"/>
              </a:spcBef>
              <a:defRPr sz="2200">
                <a:latin typeface="Times Roman"/>
                <a:ea typeface="Times Roman"/>
                <a:cs typeface="Times Roman"/>
                <a:sym typeface="Times Roman"/>
              </a:defRPr>
            </a:pPr>
            <a:r>
              <a:rPr b="1"/>
              <a:t>1. Data &amp; Model Quality :</a:t>
            </a:r>
            <a:r>
              <a:t> Automated schema validation , Missing-value checks , Duplicate detection , Feature engineering pipeline &amp; Feature Store</a:t>
            </a:r>
          </a:p>
          <a:p>
            <a:pPr defTabSz="457200">
              <a:lnSpc>
                <a:spcPct val="120000"/>
              </a:lnSpc>
              <a:spcBef>
                <a:spcPts val="1400"/>
              </a:spcBef>
              <a:defRPr sz="2200">
                <a:latin typeface="Times Roman"/>
                <a:ea typeface="Times Roman"/>
                <a:cs typeface="Times Roman"/>
                <a:sym typeface="Times Roman"/>
              </a:defRPr>
            </a:pPr>
            <a:r>
              <a:rPr b="1"/>
              <a:t>2. Reproducibility :</a:t>
            </a:r>
            <a:r>
              <a:t> MLflow experiment tracking , Parameter logging , Metric logging , Model artifacts</a:t>
            </a:r>
          </a:p>
          <a:p>
            <a:pPr defTabSz="457200">
              <a:lnSpc>
                <a:spcPct val="120000"/>
              </a:lnSpc>
              <a:spcBef>
                <a:spcPts val="1400"/>
              </a:spcBef>
              <a:defRPr sz="2200">
                <a:latin typeface="Times Roman"/>
                <a:ea typeface="Times Roman"/>
                <a:cs typeface="Times Roman"/>
                <a:sym typeface="Times Roman"/>
              </a:defRPr>
            </a:pPr>
            <a:r>
              <a:rPr b="1"/>
              <a:t>3. Production : </a:t>
            </a:r>
            <a:r>
              <a:t>FastAPI inference gateway , API authentication , Docker containers , Kubernetes manifests , Streamlit deployment</a:t>
            </a:r>
          </a:p>
          <a:p>
            <a:pPr defTabSz="457200">
              <a:lnSpc>
                <a:spcPct val="120000"/>
              </a:lnSpc>
              <a:spcBef>
                <a:spcPts val="1400"/>
              </a:spcBef>
              <a:defRPr sz="2200">
                <a:latin typeface="Times Roman"/>
                <a:ea typeface="Times Roman"/>
                <a:cs typeface="Times Roman"/>
                <a:sym typeface="Times Roman"/>
              </a:defRPr>
            </a:pPr>
            <a:r>
              <a:rPr b="1"/>
              <a:t>4. Reliability :</a:t>
            </a:r>
            <a:r>
              <a:t> Unit tests , Integration tests , CI/CD quality gates , Health checks</a:t>
            </a:r>
          </a:p>
          <a:p>
            <a:pPr defTabSz="457200">
              <a:lnSpc>
                <a:spcPct val="120000"/>
              </a:lnSpc>
              <a:spcBef>
                <a:spcPts val="1400"/>
              </a:spcBef>
              <a:defRPr sz="2200">
                <a:latin typeface="Times Roman"/>
                <a:ea typeface="Times Roman"/>
                <a:cs typeface="Times Roman"/>
                <a:sym typeface="Times Roman"/>
              </a:defRPr>
            </a:pPr>
            <a:r>
              <a:rPr b="1"/>
              <a:t>5. Monitoring : </a:t>
            </a:r>
            <a:r>
              <a:t>API latency telemetry , Request monitoring , PSI drift detection . KS statistical monitoring</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Conclusion"/>
          <p:cNvSpPr txBox="1"/>
          <p:nvPr/>
        </p:nvSpPr>
        <p:spPr>
          <a:xfrm>
            <a:off x="3741762" y="209607"/>
            <a:ext cx="6804125" cy="5070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57200">
              <a:spcBef>
                <a:spcPts val="500"/>
              </a:spcBef>
              <a:defRPr b="1" sz="3000" u="sng">
                <a:latin typeface="Times New Roman"/>
                <a:ea typeface="Times New Roman"/>
                <a:cs typeface="Times New Roman"/>
                <a:sym typeface="Times New Roman"/>
              </a:defRPr>
            </a:lvl1pPr>
          </a:lstStyle>
          <a:p>
            <a:pPr/>
            <a:r>
              <a:t>Conclusion</a:t>
            </a:r>
          </a:p>
        </p:txBody>
      </p:sp>
      <p:sp>
        <p:nvSpPr>
          <p:cNvPr id="239" name="Text 2"/>
          <p:cNvSpPr txBox="1"/>
          <p:nvPr/>
        </p:nvSpPr>
        <p:spPr>
          <a:xfrm>
            <a:off x="158694" y="913537"/>
            <a:ext cx="14313011" cy="54467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100"/>
              </a:lnSpc>
              <a:defRPr sz="2100">
                <a:solidFill>
                  <a:srgbClr val="3D3838"/>
                </a:solidFill>
                <a:latin typeface="Times New Roman"/>
                <a:ea typeface="Times New Roman"/>
                <a:cs typeface="Times New Roman"/>
                <a:sym typeface="Times New Roman"/>
              </a:defRPr>
            </a:pPr>
            <a:r>
              <a:rPr b="1"/>
              <a:t>What We Built :</a:t>
            </a:r>
            <a:r>
              <a:t> Voyage Analytics 2.0 successfully integrates 3 ML Problems :- Regression , Classification , Recommendation into a single production-oriented travel intelligence platform.</a:t>
            </a:r>
          </a:p>
          <a:p>
            <a:pPr defTabSz="457200">
              <a:spcBef>
                <a:spcPts val="1400"/>
              </a:spcBef>
              <a:defRPr sz="2100">
                <a:latin typeface="Times Roman"/>
                <a:ea typeface="Times Roman"/>
                <a:cs typeface="Times Roman"/>
                <a:sym typeface="Times Roman"/>
              </a:defRPr>
            </a:pPr>
          </a:p>
          <a:p>
            <a:pPr defTabSz="457200">
              <a:spcBef>
                <a:spcPts val="1400"/>
              </a:spcBef>
              <a:defRPr b="1" sz="2100" u="sng">
                <a:latin typeface="Times Roman"/>
                <a:ea typeface="Times Roman"/>
                <a:cs typeface="Times Roman"/>
                <a:sym typeface="Times Roman"/>
              </a:defRPr>
            </a:pPr>
            <a:r>
              <a:t>Key Achievements</a:t>
            </a:r>
          </a:p>
          <a:p>
            <a:pPr defTabSz="457200">
              <a:spcBef>
                <a:spcPts val="1500"/>
              </a:spcBef>
              <a:defRPr sz="2100">
                <a:latin typeface="Times Roman"/>
                <a:ea typeface="Times Roman"/>
                <a:cs typeface="Times Roman"/>
                <a:sym typeface="Times Roman"/>
              </a:defRPr>
            </a:pPr>
            <a:r>
              <a:rPr b="1"/>
              <a:t>1. Machine Learning :-</a:t>
            </a:r>
            <a:r>
              <a:t> Compared multiple algorithms for every ML task , Selected models using measurable performance, Applied hyperparameter optimization , Added SHAP-based explainability , Implemented a hybrid recommendation strategy.</a:t>
            </a:r>
          </a:p>
          <a:p>
            <a:pPr defTabSz="457200">
              <a:spcBef>
                <a:spcPts val="1500"/>
              </a:spcBef>
              <a:defRPr sz="2100">
                <a:latin typeface="Times Roman"/>
                <a:ea typeface="Times Roman"/>
                <a:cs typeface="Times Roman"/>
                <a:sym typeface="Times Roman"/>
              </a:defRPr>
            </a:pPr>
            <a:r>
              <a:rPr b="1"/>
              <a:t>2. MLOps :- </a:t>
            </a:r>
            <a:r>
              <a:t>Automated data validation and preprocessing , Created reusable feature engineering pipelines , Introduced a Feature Store , Tracked experiments using MLflow , Served models through FastAPI.</a:t>
            </a:r>
          </a:p>
          <a:p>
            <a:pPr defTabSz="457200">
              <a:spcBef>
                <a:spcPts val="1500"/>
              </a:spcBef>
              <a:defRPr sz="2100">
                <a:latin typeface="Times Roman"/>
                <a:ea typeface="Times Roman"/>
                <a:cs typeface="Times Roman"/>
                <a:sym typeface="Times Roman"/>
              </a:defRPr>
            </a:pPr>
            <a:r>
              <a:rPr b="1"/>
              <a:t>3. Production Engineering :- </a:t>
            </a:r>
            <a:r>
              <a:t>Containerized services using Docker , Added Kubernetes deployment manifests , Implemented automated testing , Built GitHub Actions CI/CD , Added API health monitoring.</a:t>
            </a:r>
          </a:p>
          <a:p>
            <a:pPr defTabSz="457200">
              <a:spcBef>
                <a:spcPts val="1500"/>
              </a:spcBef>
              <a:defRPr sz="2100">
                <a:latin typeface="Times Roman"/>
                <a:ea typeface="Times Roman"/>
                <a:cs typeface="Times Roman"/>
                <a:sym typeface="Times Roman"/>
              </a:defRPr>
            </a:pPr>
            <a:r>
              <a:rPr b="1"/>
              <a:t>4. Monitoring :- </a:t>
            </a:r>
            <a:r>
              <a:t>API telemetry , PSI-based drift detection , KS statistical testing , Data Quality Center , Experiment monitoring</a:t>
            </a:r>
          </a:p>
          <a:p>
            <a:pPr defTabSz="457200">
              <a:spcBef>
                <a:spcPts val="1500"/>
              </a:spcBef>
              <a:defRPr sz="2100">
                <a:latin typeface="Times Roman"/>
                <a:ea typeface="Times Roman"/>
                <a:cs typeface="Times Roman"/>
                <a:sym typeface="Times Roman"/>
              </a:defRPr>
            </a:pPr>
            <a:r>
              <a:rPr b="1"/>
              <a:t>5. User Experience :- </a:t>
            </a:r>
            <a:r>
              <a:t>Interactive Streamlit dashboard , Human-readable airport selection , Flight price forecasting , Traveler profiling , Hotel recommendations . Explainable predictions</a:t>
            </a:r>
          </a:p>
        </p:txBody>
      </p:sp>
      <p:sp>
        <p:nvSpPr>
          <p:cNvPr id="240" name="Text 2"/>
          <p:cNvSpPr txBox="1"/>
          <p:nvPr/>
        </p:nvSpPr>
        <p:spPr>
          <a:xfrm>
            <a:off x="158694" y="6862168"/>
            <a:ext cx="14313011" cy="7636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100"/>
              </a:lnSpc>
              <a:defRPr sz="2000">
                <a:solidFill>
                  <a:srgbClr val="3D3838"/>
                </a:solidFill>
                <a:latin typeface="Times New Roman"/>
                <a:ea typeface="Times New Roman"/>
                <a:cs typeface="Times New Roman"/>
                <a:sym typeface="Times New Roman"/>
              </a:defRPr>
            </a:lvl1pPr>
          </a:lstStyle>
          <a:p>
            <a:pPr/>
            <a:r>
              <a:t>Voyage Analytics 2.0 demonstrates how machine learning models can be transformed from isolated experiments into a complete, deployable and monitorable production system.</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Text 0"/>
          <p:cNvSpPr txBox="1"/>
          <p:nvPr/>
        </p:nvSpPr>
        <p:spPr>
          <a:xfrm>
            <a:off x="1136539" y="1266500"/>
            <a:ext cx="12357322" cy="38865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4800"/>
              </a:lnSpc>
              <a:defRPr b="1" sz="5600">
                <a:latin typeface="Times New Roman"/>
                <a:ea typeface="Times New Roman"/>
                <a:cs typeface="Times New Roman"/>
                <a:sym typeface="Times New Roman"/>
              </a:defRPr>
            </a:pPr>
          </a:p>
          <a:p>
            <a:pPr algn="ctr">
              <a:lnSpc>
                <a:spcPts val="4800"/>
              </a:lnSpc>
              <a:defRPr b="1" sz="5600">
                <a:latin typeface="Times New Roman"/>
                <a:ea typeface="Times New Roman"/>
                <a:cs typeface="Times New Roman"/>
                <a:sym typeface="Times New Roman"/>
              </a:defRPr>
            </a:pPr>
            <a:r>
              <a:t>THANK YOU</a:t>
            </a:r>
          </a:p>
          <a:p>
            <a:pPr algn="ctr">
              <a:lnSpc>
                <a:spcPts val="4800"/>
              </a:lnSpc>
              <a:defRPr b="1" sz="5600">
                <a:latin typeface="Times New Roman"/>
                <a:ea typeface="Times New Roman"/>
                <a:cs typeface="Times New Roman"/>
                <a:sym typeface="Times New Roman"/>
              </a:defRPr>
            </a:pPr>
            <a:endParaRPr b="0"/>
          </a:p>
          <a:p>
            <a:pPr lvl="1" indent="228600" algn="ctr" defTabSz="457200">
              <a:spcBef>
                <a:spcPts val="1400"/>
              </a:spcBef>
              <a:defRPr b="1" sz="3000">
                <a:latin typeface="Times Roman"/>
                <a:ea typeface="Times Roman"/>
                <a:cs typeface="Times Roman"/>
                <a:sym typeface="Times Roman"/>
              </a:defRPr>
            </a:pPr>
            <a:r>
              <a:t>Live Demo :-  </a:t>
            </a:r>
            <a:r>
              <a:rPr u="sng">
                <a:solidFill>
                  <a:schemeClr val="accent2">
                    <a:satOff val="-18194"/>
                    <a:lumOff val="-11215"/>
                  </a:schemeClr>
                </a:solidFill>
                <a:uFill>
                  <a:solidFill>
                    <a:srgbClr val="0563C1"/>
                  </a:solidFill>
                </a:uFill>
                <a:hlinkClick r:id="rId2" invalidUrl="" action="" tgtFrame="" tooltip="" history="1" highlightClick="0" endSnd="0"/>
              </a:rPr>
              <a:t>Voyage-Analytics_Production-MLOps-Travel-Platform.streamlit.app</a:t>
            </a:r>
            <a:r>
              <a:t> </a:t>
            </a:r>
          </a:p>
          <a:p>
            <a:pPr lvl="1" indent="228600" algn="ctr" defTabSz="457200">
              <a:spcBef>
                <a:spcPts val="1400"/>
              </a:spcBef>
              <a:defRPr b="1" sz="3000">
                <a:latin typeface="Times Roman"/>
                <a:ea typeface="Times Roman"/>
                <a:cs typeface="Times Roman"/>
                <a:sym typeface="Times Roman"/>
              </a:defRPr>
            </a:pPr>
            <a:r>
              <a:t>Github Repo :- </a:t>
            </a:r>
            <a:r>
              <a:rPr u="sng">
                <a:solidFill>
                  <a:schemeClr val="accent2">
                    <a:satOff val="-18194"/>
                    <a:lumOff val="-11215"/>
                  </a:schemeClr>
                </a:solidFill>
                <a:uFill>
                  <a:solidFill>
                    <a:srgbClr val="0563C1"/>
                  </a:solidFill>
                </a:uFill>
                <a:hlinkClick r:id="rId3" invalidUrl="" action="" tgtFrame="" tooltip="" history="1" highlightClick="0" endSnd="0"/>
              </a:rPr>
              <a:t>https://github.com/Alvira-Parveen/Voyage-Analytics_Production-MLOps-Travel-Platform</a:t>
            </a:r>
            <a:r>
              <a:t> </a:t>
            </a:r>
          </a:p>
        </p:txBody>
      </p:sp>
      <p:sp>
        <p:nvSpPr>
          <p:cNvPr id="243" name="Text 2"/>
          <p:cNvSpPr txBox="1"/>
          <p:nvPr/>
        </p:nvSpPr>
        <p:spPr>
          <a:xfrm>
            <a:off x="250497" y="5698596"/>
            <a:ext cx="14313011" cy="1160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100"/>
              </a:lnSpc>
              <a:defRPr i="1" sz="2100">
                <a:solidFill>
                  <a:srgbClr val="3D3838"/>
                </a:solidFill>
                <a:latin typeface="Times New Roman"/>
                <a:ea typeface="Times New Roman"/>
                <a:cs typeface="Times New Roman"/>
                <a:sym typeface="Times New Roman"/>
              </a:defRPr>
            </a:lvl1pPr>
          </a:lstStyle>
          <a:p>
            <a:pPr/>
            <a:r>
              <a:t>The biggest learning from this project was that building an ML model is only one part of an ML system. A real production system also needs data quality, reproducibility, deployment, testing, monitoring and maintenance. Voyage Analytics demonstrates that complete lifecycle.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